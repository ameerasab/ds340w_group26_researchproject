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4A2E"/>
        </a:solidFill>
      </p:bgPr>
    </p:bg>
    <p:spTree>
      <p:nvGrpSpPr>
        <p:cNvPr id="1" name=""/>
        <p:cNvGrpSpPr/>
        <p:nvPr/>
      </p:nvGrpSpPr>
      <p:grpSpPr>
        <a:xfrm>
          <a:off x="0" y="0"/>
          <a:ext cx="0" cy="0"/>
          <a:chOff x="0" y="0"/>
          <a:chExt cx="0" cy="0"/>
        </a:xfrm>
      </p:grpSpPr>
      <p:sp>
        <p:nvSpPr>
          <p:cNvPr id="2" name="Shape 0"/>
          <p:cNvSpPr/>
          <p:nvPr/>
        </p:nvSpPr>
        <p:spPr>
          <a:xfrm>
            <a:off x="548640" y="868680"/>
            <a:ext cx="8046720" cy="3291840"/>
          </a:xfrm>
          <a:prstGeom prst="rect">
            <a:avLst/>
          </a:prstGeom>
          <a:solidFill>
            <a:srgbClr val="F7F3EC"/>
          </a:solidFill>
          <a:ln/>
        </p:spPr>
      </p:sp>
      <p:sp>
        <p:nvSpPr>
          <p:cNvPr id="3" name="Text 1"/>
          <p:cNvSpPr/>
          <p:nvPr/>
        </p:nvSpPr>
        <p:spPr>
          <a:xfrm>
            <a:off x="548640" y="1005840"/>
            <a:ext cx="8046720" cy="292608"/>
          </a:xfrm>
          <a:prstGeom prst="rect">
            <a:avLst/>
          </a:prstGeom>
          <a:noFill/>
          <a:ln/>
        </p:spPr>
        <p:txBody>
          <a:bodyPr wrap="square" lIns="0" tIns="0" rIns="0" bIns="0" rtlCol="0" anchor="ctr"/>
          <a:lstStyle/>
          <a:p>
            <a:pPr algn="ctr" indent="0" marL="0">
              <a:buNone/>
            </a:pPr>
            <a:r>
              <a:rPr lang="en-US" sz="950" i="1" dirty="0">
                <a:solidFill>
                  <a:srgbClr val="2C4A2E"/>
                </a:solidFill>
              </a:rPr>
              <a:t>DS340W  •  Midterm Presentation  •  Group 26  •  Spring 2026</a:t>
            </a:r>
            <a:endParaRPr lang="en-US" sz="950" dirty="0"/>
          </a:p>
        </p:txBody>
      </p:sp>
      <p:sp>
        <p:nvSpPr>
          <p:cNvPr id="4" name="Text 2"/>
          <p:cNvSpPr/>
          <p:nvPr/>
        </p:nvSpPr>
        <p:spPr>
          <a:xfrm>
            <a:off x="822960" y="1389888"/>
            <a:ext cx="7498080" cy="658368"/>
          </a:xfrm>
          <a:prstGeom prst="rect">
            <a:avLst/>
          </a:prstGeom>
          <a:noFill/>
          <a:ln/>
        </p:spPr>
        <p:txBody>
          <a:bodyPr wrap="square" rtlCol="0" anchor="ctr"/>
          <a:lstStyle/>
          <a:p>
            <a:pPr algn="ctr" indent="0" marL="0">
              <a:buNone/>
            </a:pPr>
            <a:r>
              <a:rPr lang="en-US" sz="2400" b="1" dirty="0">
                <a:solidFill>
                  <a:srgbClr val="2C4A2E"/>
                </a:solidFill>
                <a:latin typeface="Georgia" pitchFamily="34" charset="0"/>
                <a:ea typeface="Georgia" pitchFamily="34" charset="-122"/>
                <a:cs typeface="Georgia" pitchFamily="34" charset="-120"/>
              </a:rPr>
              <a:t>How Part-Time Employment Affects</a:t>
            </a:r>
            <a:endParaRPr lang="en-US" sz="2400" dirty="0"/>
          </a:p>
        </p:txBody>
      </p:sp>
      <p:sp>
        <p:nvSpPr>
          <p:cNvPr id="5" name="Text 3"/>
          <p:cNvSpPr/>
          <p:nvPr/>
        </p:nvSpPr>
        <p:spPr>
          <a:xfrm>
            <a:off x="822960" y="2029968"/>
            <a:ext cx="7498080" cy="658368"/>
          </a:xfrm>
          <a:prstGeom prst="rect">
            <a:avLst/>
          </a:prstGeom>
          <a:noFill/>
          <a:ln/>
        </p:spPr>
        <p:txBody>
          <a:bodyPr wrap="square" rtlCol="0" anchor="ctr"/>
          <a:lstStyle/>
          <a:p>
            <a:pPr algn="ctr" indent="0" marL="0">
              <a:buNone/>
            </a:pPr>
            <a:r>
              <a:rPr lang="en-US" sz="2200" dirty="0">
                <a:solidFill>
                  <a:srgbClr val="3D6B40"/>
                </a:solidFill>
                <a:latin typeface="Georgia" pitchFamily="34" charset="0"/>
                <a:ea typeface="Georgia" pitchFamily="34" charset="-122"/>
                <a:cs typeface="Georgia" pitchFamily="34" charset="-120"/>
              </a:rPr>
              <a:t>Academic Engagement &amp; Financial Well-Being</a:t>
            </a:r>
            <a:endParaRPr lang="en-US" sz="2200" dirty="0"/>
          </a:p>
        </p:txBody>
      </p:sp>
      <p:sp>
        <p:nvSpPr>
          <p:cNvPr id="6" name="Text 4"/>
          <p:cNvSpPr/>
          <p:nvPr/>
        </p:nvSpPr>
        <p:spPr>
          <a:xfrm>
            <a:off x="822960" y="2633472"/>
            <a:ext cx="7498080" cy="457200"/>
          </a:xfrm>
          <a:prstGeom prst="rect">
            <a:avLst/>
          </a:prstGeom>
          <a:noFill/>
          <a:ln/>
        </p:spPr>
        <p:txBody>
          <a:bodyPr wrap="square" rtlCol="0" anchor="ctr"/>
          <a:lstStyle/>
          <a:p>
            <a:pPr algn="ctr" indent="0" marL="0">
              <a:buNone/>
            </a:pPr>
            <a:r>
              <a:rPr lang="en-US" sz="1700" dirty="0">
                <a:solidFill>
                  <a:srgbClr val="3D6B40"/>
                </a:solidFill>
                <a:latin typeface="Georgia" pitchFamily="34" charset="0"/>
                <a:ea typeface="Georgia" pitchFamily="34" charset="-122"/>
                <a:cs typeface="Georgia" pitchFamily="34" charset="-120"/>
              </a:rPr>
              <a:t>of University Students</a:t>
            </a:r>
            <a:endParaRPr lang="en-US" sz="1700" dirty="0"/>
          </a:p>
        </p:txBody>
      </p:sp>
      <p:sp>
        <p:nvSpPr>
          <p:cNvPr id="7" name="Shape 5"/>
          <p:cNvSpPr/>
          <p:nvPr/>
        </p:nvSpPr>
        <p:spPr>
          <a:xfrm>
            <a:off x="3200400" y="3200400"/>
            <a:ext cx="2743200" cy="45720"/>
          </a:xfrm>
          <a:prstGeom prst="rect">
            <a:avLst/>
          </a:prstGeom>
          <a:solidFill>
            <a:srgbClr val="2C4A2E"/>
          </a:solidFill>
          <a:ln/>
        </p:spPr>
      </p:sp>
      <p:sp>
        <p:nvSpPr>
          <p:cNvPr id="8" name="Text 6"/>
          <p:cNvSpPr/>
          <p:nvPr/>
        </p:nvSpPr>
        <p:spPr>
          <a:xfrm>
            <a:off x="822960" y="3310128"/>
            <a:ext cx="7498080" cy="347472"/>
          </a:xfrm>
          <a:prstGeom prst="rect">
            <a:avLst/>
          </a:prstGeom>
          <a:noFill/>
          <a:ln/>
        </p:spPr>
        <p:txBody>
          <a:bodyPr wrap="square" rtlCol="0" anchor="ctr"/>
          <a:lstStyle/>
          <a:p>
            <a:pPr algn="ctr" indent="0" marL="0">
              <a:buNone/>
            </a:pPr>
            <a:r>
              <a:rPr lang="en-US" sz="1300" b="1" dirty="0">
                <a:solidFill>
                  <a:srgbClr val="2C4A2E"/>
                </a:solidFill>
              </a:rPr>
              <a:t>Nur Ameera Sabrina Mahadir  &amp;  Shakshe Gupta</a:t>
            </a:r>
            <a:endParaRPr lang="en-US" sz="1300" dirty="0"/>
          </a:p>
        </p:txBody>
      </p:sp>
      <p:sp>
        <p:nvSpPr>
          <p:cNvPr id="9" name="Shape 7"/>
          <p:cNvSpPr/>
          <p:nvPr/>
        </p:nvSpPr>
        <p:spPr>
          <a:xfrm>
            <a:off x="0" y="4754880"/>
            <a:ext cx="1280160" cy="384048"/>
          </a:xfrm>
          <a:prstGeom prst="rect">
            <a:avLst/>
          </a:prstGeom>
          <a:solidFill>
            <a:srgbClr val="3D6B40"/>
          </a:solidFill>
          <a:ln/>
        </p:spPr>
      </p:sp>
      <p:sp>
        <p:nvSpPr>
          <p:cNvPr id="10" name="Shape 8"/>
          <p:cNvSpPr/>
          <p:nvPr/>
        </p:nvSpPr>
        <p:spPr>
          <a:xfrm>
            <a:off x="1371600" y="4754880"/>
            <a:ext cx="7772400" cy="384048"/>
          </a:xfrm>
          <a:prstGeom prst="rect">
            <a:avLst/>
          </a:prstGeom>
          <a:solidFill>
            <a:srgbClr val="4A7A4D"/>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0" y="0"/>
            <a:ext cx="2286000" cy="329184"/>
          </a:xfrm>
          <a:prstGeom prst="rect">
            <a:avLst/>
          </a:prstGeom>
          <a:solidFill>
            <a:srgbClr val="2C4A2E"/>
          </a:solidFill>
          <a:ln/>
        </p:spPr>
      </p:sp>
      <p:sp>
        <p:nvSpPr>
          <p:cNvPr id="3" name="Text 1"/>
          <p:cNvSpPr/>
          <p:nvPr/>
        </p:nvSpPr>
        <p:spPr>
          <a:xfrm>
            <a:off x="109728" y="36576"/>
            <a:ext cx="2103120" cy="256032"/>
          </a:xfrm>
          <a:prstGeom prst="rect">
            <a:avLst/>
          </a:prstGeom>
          <a:noFill/>
          <a:ln/>
        </p:spPr>
        <p:txBody>
          <a:bodyPr wrap="square" lIns="0" tIns="0" rIns="0" bIns="0" rtlCol="0" anchor="ctr"/>
          <a:lstStyle/>
          <a:p>
            <a:pPr indent="0" marL="0">
              <a:buNone/>
            </a:pPr>
            <a:r>
              <a:rPr lang="en-US" sz="900" dirty="0">
                <a:solidFill>
                  <a:srgbClr val="FFFFFF"/>
                </a:solidFill>
              </a:rPr>
              <a:t>DS340W | Spring 2026</a:t>
            </a:r>
            <a:endParaRPr lang="en-US" sz="900" dirty="0"/>
          </a:p>
        </p:txBody>
      </p:sp>
      <p:sp>
        <p:nvSpPr>
          <p:cNvPr id="4" name="Shape 2"/>
          <p:cNvSpPr/>
          <p:nvPr/>
        </p:nvSpPr>
        <p:spPr>
          <a:xfrm>
            <a:off x="0" y="4873752"/>
            <a:ext cx="1280160" cy="274320"/>
          </a:xfrm>
          <a:prstGeom prst="rect">
            <a:avLst/>
          </a:prstGeom>
          <a:solidFill>
            <a:srgbClr val="2C4A2E"/>
          </a:solidFill>
          <a:ln/>
        </p:spPr>
      </p:sp>
      <p:sp>
        <p:nvSpPr>
          <p:cNvPr id="5" name="Shape 3"/>
          <p:cNvSpPr/>
          <p:nvPr/>
        </p:nvSpPr>
        <p:spPr>
          <a:xfrm>
            <a:off x="1371600" y="4873752"/>
            <a:ext cx="7772400" cy="274320"/>
          </a:xfrm>
          <a:prstGeom prst="rect">
            <a:avLst/>
          </a:prstGeom>
          <a:solidFill>
            <a:srgbClr val="3D6B40"/>
          </a:solidFill>
          <a:ln/>
        </p:spPr>
      </p:sp>
      <p:sp>
        <p:nvSpPr>
          <p:cNvPr id="6" name="Text 4"/>
          <p:cNvSpPr/>
          <p:nvPr/>
        </p:nvSpPr>
        <p:spPr>
          <a:xfrm>
            <a:off x="8412480" y="73152"/>
            <a:ext cx="685800" cy="384048"/>
          </a:xfrm>
          <a:prstGeom prst="rect">
            <a:avLst/>
          </a:prstGeom>
          <a:noFill/>
          <a:ln/>
        </p:spPr>
        <p:txBody>
          <a:bodyPr wrap="square" lIns="0" tIns="0" rIns="0" bIns="0" rtlCol="0" anchor="ctr"/>
          <a:lstStyle/>
          <a:p>
            <a:pPr algn="r" indent="0" marL="0">
              <a:buNone/>
            </a:pPr>
            <a:r>
              <a:rPr lang="en-US" sz="2000" b="1" dirty="0">
                <a:solidFill>
                  <a:srgbClr val="2C4A2E"/>
                </a:solidFill>
              </a:rPr>
              <a:t>01</a:t>
            </a:r>
            <a:endParaRPr lang="en-US" sz="2000" dirty="0"/>
          </a:p>
        </p:txBody>
      </p:sp>
      <p:sp>
        <p:nvSpPr>
          <p:cNvPr id="7" name="Text 5"/>
          <p:cNvSpPr/>
          <p:nvPr/>
        </p:nvSpPr>
        <p:spPr>
          <a:xfrm>
            <a:off x="457200" y="457200"/>
            <a:ext cx="8229600" cy="658368"/>
          </a:xfrm>
          <a:prstGeom prst="rect">
            <a:avLst/>
          </a:prstGeom>
          <a:noFill/>
          <a:ln/>
        </p:spPr>
        <p:txBody>
          <a:bodyPr wrap="square" rtlCol="0" anchor="ctr"/>
          <a:lstStyle/>
          <a:p>
            <a:pPr algn="ctr" indent="0" marL="0">
              <a:buNone/>
            </a:pPr>
            <a:r>
              <a:rPr lang="en-US" sz="3400" dirty="0">
                <a:solidFill>
                  <a:srgbClr val="2C4A2E"/>
                </a:solidFill>
                <a:latin typeface="Georgia" pitchFamily="34" charset="0"/>
                <a:ea typeface="Georgia" pitchFamily="34" charset="-122"/>
                <a:cs typeface="Georgia" pitchFamily="34" charset="-120"/>
              </a:rPr>
              <a:t>Today's Agenda</a:t>
            </a:r>
            <a:endParaRPr lang="en-US" sz="3400" dirty="0"/>
          </a:p>
        </p:txBody>
      </p:sp>
      <p:sp>
        <p:nvSpPr>
          <p:cNvPr id="8" name="Shape 6"/>
          <p:cNvSpPr/>
          <p:nvPr/>
        </p:nvSpPr>
        <p:spPr>
          <a:xfrm>
            <a:off x="411480" y="1261872"/>
            <a:ext cx="3931920" cy="310896"/>
          </a:xfrm>
          <a:prstGeom prst="rect">
            <a:avLst/>
          </a:prstGeom>
          <a:solidFill>
            <a:srgbClr val="2C4A2E"/>
          </a:solidFill>
          <a:ln/>
        </p:spPr>
      </p:sp>
      <p:sp>
        <p:nvSpPr>
          <p:cNvPr id="9" name="Text 7"/>
          <p:cNvSpPr/>
          <p:nvPr/>
        </p:nvSpPr>
        <p:spPr>
          <a:xfrm>
            <a:off x="502920" y="1261872"/>
            <a:ext cx="3749040" cy="310896"/>
          </a:xfrm>
          <a:prstGeom prst="rect">
            <a:avLst/>
          </a:prstGeom>
          <a:noFill/>
          <a:ln/>
        </p:spPr>
        <p:txBody>
          <a:bodyPr wrap="square" lIns="0" tIns="0" rIns="0" bIns="0" rtlCol="0" anchor="ctr"/>
          <a:lstStyle/>
          <a:p>
            <a:pPr indent="0" marL="0">
              <a:buNone/>
            </a:pPr>
            <a:r>
              <a:rPr lang="en-US" sz="1100" b="1" dirty="0">
                <a:solidFill>
                  <a:srgbClr val="FFFFFF"/>
                </a:solidFill>
              </a:rPr>
              <a:t>⏱ First 5 Minutes — Background</a:t>
            </a:r>
            <a:endParaRPr lang="en-US" sz="1100" dirty="0"/>
          </a:p>
        </p:txBody>
      </p:sp>
      <p:sp>
        <p:nvSpPr>
          <p:cNvPr id="10" name="Shape 8"/>
          <p:cNvSpPr/>
          <p:nvPr/>
        </p:nvSpPr>
        <p:spPr>
          <a:xfrm>
            <a:off x="4617720" y="1261872"/>
            <a:ext cx="4069080" cy="310896"/>
          </a:xfrm>
          <a:prstGeom prst="rect">
            <a:avLst/>
          </a:prstGeom>
          <a:solidFill>
            <a:srgbClr val="3D6B40"/>
          </a:solidFill>
          <a:ln/>
        </p:spPr>
      </p:sp>
      <p:sp>
        <p:nvSpPr>
          <p:cNvPr id="11" name="Text 9"/>
          <p:cNvSpPr/>
          <p:nvPr/>
        </p:nvSpPr>
        <p:spPr>
          <a:xfrm>
            <a:off x="4709160" y="1261872"/>
            <a:ext cx="3886200" cy="310896"/>
          </a:xfrm>
          <a:prstGeom prst="rect">
            <a:avLst/>
          </a:prstGeom>
          <a:noFill/>
          <a:ln/>
        </p:spPr>
        <p:txBody>
          <a:bodyPr wrap="square" lIns="0" tIns="0" rIns="0" bIns="0" rtlCol="0" anchor="ctr"/>
          <a:lstStyle/>
          <a:p>
            <a:pPr indent="0" marL="0">
              <a:buNone/>
            </a:pPr>
            <a:r>
              <a:rPr lang="en-US" sz="1100" b="1" dirty="0">
                <a:solidFill>
                  <a:srgbClr val="FFFFFF"/>
                </a:solidFill>
              </a:rPr>
              <a:t>⏱ Next 5 Minutes — Our Research</a:t>
            </a:r>
            <a:endParaRPr lang="en-US" sz="1100" dirty="0"/>
          </a:p>
        </p:txBody>
      </p:sp>
      <p:sp>
        <p:nvSpPr>
          <p:cNvPr id="12" name="Shape 10"/>
          <p:cNvSpPr/>
          <p:nvPr/>
        </p:nvSpPr>
        <p:spPr>
          <a:xfrm>
            <a:off x="411480" y="1691640"/>
            <a:ext cx="594360" cy="804672"/>
          </a:xfrm>
          <a:prstGeom prst="rect">
            <a:avLst/>
          </a:prstGeom>
          <a:solidFill>
            <a:srgbClr val="2C4A2E"/>
          </a:solidFill>
          <a:ln/>
          <a:effectLst>
            <a:outerShdw sx="100000" sy="100000" kx="0" ky="0" algn="bl" rotWithShape="0" blurRad="63500" dist="25400" dir="8100000">
              <a:srgbClr val="000000">
                <a:alpha val="10000"/>
              </a:srgbClr>
            </a:outerShdw>
          </a:effectLst>
        </p:spPr>
      </p:sp>
      <p:sp>
        <p:nvSpPr>
          <p:cNvPr id="13" name="Text 11"/>
          <p:cNvSpPr/>
          <p:nvPr/>
        </p:nvSpPr>
        <p:spPr>
          <a:xfrm>
            <a:off x="411480" y="1691640"/>
            <a:ext cx="594360" cy="804672"/>
          </a:xfrm>
          <a:prstGeom prst="rect">
            <a:avLst/>
          </a:prstGeom>
          <a:noFill/>
          <a:ln/>
        </p:spPr>
        <p:txBody>
          <a:bodyPr wrap="square" lIns="0" tIns="0" rIns="0" bIns="0" rtlCol="0" anchor="ctr"/>
          <a:lstStyle/>
          <a:p>
            <a:pPr algn="ctr" indent="0" marL="0">
              <a:buNone/>
            </a:pPr>
            <a:r>
              <a:rPr lang="en-US" sz="1700" b="1" dirty="0">
                <a:solidFill>
                  <a:srgbClr val="FFFFFF"/>
                </a:solidFill>
              </a:rPr>
              <a:t>01</a:t>
            </a:r>
            <a:endParaRPr lang="en-US" sz="1700" dirty="0"/>
          </a:p>
        </p:txBody>
      </p:sp>
      <p:sp>
        <p:nvSpPr>
          <p:cNvPr id="14" name="Shape 12"/>
          <p:cNvSpPr/>
          <p:nvPr/>
        </p:nvSpPr>
        <p:spPr>
          <a:xfrm>
            <a:off x="1005840" y="1691640"/>
            <a:ext cx="3383280" cy="804672"/>
          </a:xfrm>
          <a:prstGeom prst="rect">
            <a:avLst/>
          </a:prstGeom>
          <a:solidFill>
            <a:srgbClr val="EEE8DC"/>
          </a:solidFill>
          <a:ln/>
          <a:effectLst>
            <a:outerShdw sx="100000" sy="100000" kx="0" ky="0" algn="bl" rotWithShape="0" blurRad="63500" dist="25400" dir="8100000">
              <a:srgbClr val="000000">
                <a:alpha val="10000"/>
              </a:srgbClr>
            </a:outerShdw>
          </a:effectLst>
        </p:spPr>
      </p:sp>
      <p:sp>
        <p:nvSpPr>
          <p:cNvPr id="15" name="Text 13"/>
          <p:cNvSpPr/>
          <p:nvPr/>
        </p:nvSpPr>
        <p:spPr>
          <a:xfrm>
            <a:off x="1124712" y="1783080"/>
            <a:ext cx="3200400" cy="640080"/>
          </a:xfrm>
          <a:prstGeom prst="rect">
            <a:avLst/>
          </a:prstGeom>
          <a:noFill/>
          <a:ln/>
        </p:spPr>
        <p:txBody>
          <a:bodyPr wrap="square" rtlCol="0" anchor="ctr"/>
          <a:lstStyle/>
          <a:p>
            <a:pPr indent="0" marL="0">
              <a:buNone/>
            </a:pPr>
            <a:r>
              <a:rPr lang="en-US" sz="1300" b="1" dirty="0">
                <a:solidFill>
                  <a:srgbClr val="2C4A2E"/>
                </a:solidFill>
              </a:rPr>
              <a:t>Motivation
</a:t>
            </a:r>
            <a:pPr indent="0" marL="0">
              <a:buNone/>
            </a:pPr>
            <a:r>
              <a:rPr lang="en-US" sz="1000" dirty="0">
                <a:solidFill>
                  <a:srgbClr val="6B7280"/>
                </a:solidFill>
              </a:rPr>
              <a:t>Why does part-time work and student performance matter?</a:t>
            </a:r>
            <a:endParaRPr lang="en-US" sz="1300" dirty="0"/>
          </a:p>
        </p:txBody>
      </p:sp>
      <p:sp>
        <p:nvSpPr>
          <p:cNvPr id="16" name="Shape 14"/>
          <p:cNvSpPr/>
          <p:nvPr/>
        </p:nvSpPr>
        <p:spPr>
          <a:xfrm>
            <a:off x="411480" y="2651760"/>
            <a:ext cx="594360" cy="804672"/>
          </a:xfrm>
          <a:prstGeom prst="rect">
            <a:avLst/>
          </a:prstGeom>
          <a:solidFill>
            <a:srgbClr val="2C4A2E"/>
          </a:solidFill>
          <a:ln/>
          <a:effectLst>
            <a:outerShdw sx="100000" sy="100000" kx="0" ky="0" algn="bl" rotWithShape="0" blurRad="63500" dist="25400" dir="8100000">
              <a:srgbClr val="000000">
                <a:alpha val="10000"/>
              </a:srgbClr>
            </a:outerShdw>
          </a:effectLst>
        </p:spPr>
      </p:sp>
      <p:sp>
        <p:nvSpPr>
          <p:cNvPr id="17" name="Text 15"/>
          <p:cNvSpPr/>
          <p:nvPr/>
        </p:nvSpPr>
        <p:spPr>
          <a:xfrm>
            <a:off x="411480" y="2651760"/>
            <a:ext cx="594360" cy="804672"/>
          </a:xfrm>
          <a:prstGeom prst="rect">
            <a:avLst/>
          </a:prstGeom>
          <a:noFill/>
          <a:ln/>
        </p:spPr>
        <p:txBody>
          <a:bodyPr wrap="square" lIns="0" tIns="0" rIns="0" bIns="0" rtlCol="0" anchor="ctr"/>
          <a:lstStyle/>
          <a:p>
            <a:pPr algn="ctr" indent="0" marL="0">
              <a:buNone/>
            </a:pPr>
            <a:r>
              <a:rPr lang="en-US" sz="1700" b="1" dirty="0">
                <a:solidFill>
                  <a:srgbClr val="FFFFFF"/>
                </a:solidFill>
              </a:rPr>
              <a:t>02</a:t>
            </a:r>
            <a:endParaRPr lang="en-US" sz="1700" dirty="0"/>
          </a:p>
        </p:txBody>
      </p:sp>
      <p:sp>
        <p:nvSpPr>
          <p:cNvPr id="18" name="Shape 16"/>
          <p:cNvSpPr/>
          <p:nvPr/>
        </p:nvSpPr>
        <p:spPr>
          <a:xfrm>
            <a:off x="1005840" y="2651760"/>
            <a:ext cx="3383280" cy="804672"/>
          </a:xfrm>
          <a:prstGeom prst="rect">
            <a:avLst/>
          </a:prstGeom>
          <a:solidFill>
            <a:srgbClr val="EEE8DC"/>
          </a:solidFill>
          <a:ln/>
          <a:effectLst>
            <a:outerShdw sx="100000" sy="100000" kx="0" ky="0" algn="bl" rotWithShape="0" blurRad="63500" dist="25400" dir="8100000">
              <a:srgbClr val="000000">
                <a:alpha val="10000"/>
              </a:srgbClr>
            </a:outerShdw>
          </a:effectLst>
        </p:spPr>
      </p:sp>
      <p:sp>
        <p:nvSpPr>
          <p:cNvPr id="19" name="Text 17"/>
          <p:cNvSpPr/>
          <p:nvPr/>
        </p:nvSpPr>
        <p:spPr>
          <a:xfrm>
            <a:off x="1124712" y="2743200"/>
            <a:ext cx="3200400" cy="640080"/>
          </a:xfrm>
          <a:prstGeom prst="rect">
            <a:avLst/>
          </a:prstGeom>
          <a:noFill/>
          <a:ln/>
        </p:spPr>
        <p:txBody>
          <a:bodyPr wrap="square" rtlCol="0" anchor="ctr"/>
          <a:lstStyle/>
          <a:p>
            <a:pPr indent="0" marL="0">
              <a:buNone/>
            </a:pPr>
            <a:r>
              <a:rPr lang="en-US" sz="1300" b="1" dirty="0">
                <a:solidFill>
                  <a:srgbClr val="2C4A2E"/>
                </a:solidFill>
              </a:rPr>
              <a:t>Parent Paper
</a:t>
            </a:r>
            <a:pPr indent="0" marL="0">
              <a:buNone/>
            </a:pPr>
            <a:r>
              <a:rPr lang="en-US" sz="1000" dirty="0">
                <a:solidFill>
                  <a:srgbClr val="6B7280"/>
                </a:solidFill>
              </a:rPr>
              <a:t>Alhamadi (2025) — ML to predict academic performance</a:t>
            </a:r>
            <a:endParaRPr lang="en-US" sz="1300" dirty="0"/>
          </a:p>
        </p:txBody>
      </p:sp>
      <p:sp>
        <p:nvSpPr>
          <p:cNvPr id="20" name="Shape 18"/>
          <p:cNvSpPr/>
          <p:nvPr/>
        </p:nvSpPr>
        <p:spPr>
          <a:xfrm>
            <a:off x="411480" y="3611880"/>
            <a:ext cx="594360" cy="804672"/>
          </a:xfrm>
          <a:prstGeom prst="rect">
            <a:avLst/>
          </a:prstGeom>
          <a:solidFill>
            <a:srgbClr val="2C4A2E"/>
          </a:solidFill>
          <a:ln/>
          <a:effectLst>
            <a:outerShdw sx="100000" sy="100000" kx="0" ky="0" algn="bl" rotWithShape="0" blurRad="63500" dist="25400" dir="8100000">
              <a:srgbClr val="000000">
                <a:alpha val="10000"/>
              </a:srgbClr>
            </a:outerShdw>
          </a:effectLst>
        </p:spPr>
      </p:sp>
      <p:sp>
        <p:nvSpPr>
          <p:cNvPr id="21" name="Text 19"/>
          <p:cNvSpPr/>
          <p:nvPr/>
        </p:nvSpPr>
        <p:spPr>
          <a:xfrm>
            <a:off x="411480" y="3611880"/>
            <a:ext cx="594360" cy="804672"/>
          </a:xfrm>
          <a:prstGeom prst="rect">
            <a:avLst/>
          </a:prstGeom>
          <a:noFill/>
          <a:ln/>
        </p:spPr>
        <p:txBody>
          <a:bodyPr wrap="square" lIns="0" tIns="0" rIns="0" bIns="0" rtlCol="0" anchor="ctr"/>
          <a:lstStyle/>
          <a:p>
            <a:pPr algn="ctr" indent="0" marL="0">
              <a:buNone/>
            </a:pPr>
            <a:r>
              <a:rPr lang="en-US" sz="1700" b="1" dirty="0">
                <a:solidFill>
                  <a:srgbClr val="FFFFFF"/>
                </a:solidFill>
              </a:rPr>
              <a:t>03</a:t>
            </a:r>
            <a:endParaRPr lang="en-US" sz="1700" dirty="0"/>
          </a:p>
        </p:txBody>
      </p:sp>
      <p:sp>
        <p:nvSpPr>
          <p:cNvPr id="22" name="Shape 20"/>
          <p:cNvSpPr/>
          <p:nvPr/>
        </p:nvSpPr>
        <p:spPr>
          <a:xfrm>
            <a:off x="1005840" y="3611880"/>
            <a:ext cx="3383280" cy="804672"/>
          </a:xfrm>
          <a:prstGeom prst="rect">
            <a:avLst/>
          </a:prstGeom>
          <a:solidFill>
            <a:srgbClr val="EEE8DC"/>
          </a:solidFill>
          <a:ln/>
          <a:effectLst>
            <a:outerShdw sx="100000" sy="100000" kx="0" ky="0" algn="bl" rotWithShape="0" blurRad="63500" dist="25400" dir="8100000">
              <a:srgbClr val="000000">
                <a:alpha val="10000"/>
              </a:srgbClr>
            </a:outerShdw>
          </a:effectLst>
        </p:spPr>
      </p:sp>
      <p:sp>
        <p:nvSpPr>
          <p:cNvPr id="23" name="Text 21"/>
          <p:cNvSpPr/>
          <p:nvPr/>
        </p:nvSpPr>
        <p:spPr>
          <a:xfrm>
            <a:off x="1124712" y="3703320"/>
            <a:ext cx="3200400" cy="640080"/>
          </a:xfrm>
          <a:prstGeom prst="rect">
            <a:avLst/>
          </a:prstGeom>
          <a:noFill/>
          <a:ln/>
        </p:spPr>
        <p:txBody>
          <a:bodyPr wrap="square" rtlCol="0" anchor="ctr"/>
          <a:lstStyle/>
          <a:p>
            <a:pPr indent="0" marL="0">
              <a:buNone/>
            </a:pPr>
            <a:r>
              <a:rPr lang="en-US" sz="1300" b="1" dirty="0">
                <a:solidFill>
                  <a:srgbClr val="2C4A2E"/>
                </a:solidFill>
              </a:rPr>
              <a:t>Two Reference Papers
</a:t>
            </a:r>
            <a:pPr indent="0" marL="0">
              <a:buNone/>
            </a:pPr>
            <a:r>
              <a:rPr lang="en-US" sz="1000" dirty="0">
                <a:solidFill>
                  <a:srgbClr val="6B7280"/>
                </a:solidFill>
              </a:rPr>
              <a:t>Kroupova et al. (2024) &amp; Thies (2023)</a:t>
            </a:r>
            <a:endParaRPr lang="en-US" sz="1300" dirty="0"/>
          </a:p>
        </p:txBody>
      </p:sp>
      <p:sp>
        <p:nvSpPr>
          <p:cNvPr id="24" name="Shape 22"/>
          <p:cNvSpPr/>
          <p:nvPr/>
        </p:nvSpPr>
        <p:spPr>
          <a:xfrm>
            <a:off x="4617720" y="1691640"/>
            <a:ext cx="594360" cy="804672"/>
          </a:xfrm>
          <a:prstGeom prst="rect">
            <a:avLst/>
          </a:prstGeom>
          <a:solidFill>
            <a:srgbClr val="2C4A2E"/>
          </a:solidFill>
          <a:ln/>
          <a:effectLst>
            <a:outerShdw sx="100000" sy="100000" kx="0" ky="0" algn="bl" rotWithShape="0" blurRad="63500" dist="25400" dir="8100000">
              <a:srgbClr val="000000">
                <a:alpha val="10000"/>
              </a:srgbClr>
            </a:outerShdw>
          </a:effectLst>
        </p:spPr>
      </p:sp>
      <p:sp>
        <p:nvSpPr>
          <p:cNvPr id="25" name="Text 23"/>
          <p:cNvSpPr/>
          <p:nvPr/>
        </p:nvSpPr>
        <p:spPr>
          <a:xfrm>
            <a:off x="4617720" y="1691640"/>
            <a:ext cx="594360" cy="804672"/>
          </a:xfrm>
          <a:prstGeom prst="rect">
            <a:avLst/>
          </a:prstGeom>
          <a:noFill/>
          <a:ln/>
        </p:spPr>
        <p:txBody>
          <a:bodyPr wrap="square" lIns="0" tIns="0" rIns="0" bIns="0" rtlCol="0" anchor="ctr"/>
          <a:lstStyle/>
          <a:p>
            <a:pPr algn="ctr" indent="0" marL="0">
              <a:buNone/>
            </a:pPr>
            <a:r>
              <a:rPr lang="en-US" sz="1700" b="1" dirty="0">
                <a:solidFill>
                  <a:srgbClr val="FFFFFF"/>
                </a:solidFill>
              </a:rPr>
              <a:t>04</a:t>
            </a:r>
            <a:endParaRPr lang="en-US" sz="1700" dirty="0"/>
          </a:p>
        </p:txBody>
      </p:sp>
      <p:sp>
        <p:nvSpPr>
          <p:cNvPr id="26" name="Shape 24"/>
          <p:cNvSpPr/>
          <p:nvPr/>
        </p:nvSpPr>
        <p:spPr>
          <a:xfrm>
            <a:off x="5212080" y="1691640"/>
            <a:ext cx="3383280" cy="804672"/>
          </a:xfrm>
          <a:prstGeom prst="rect">
            <a:avLst/>
          </a:prstGeom>
          <a:solidFill>
            <a:srgbClr val="EEE8DC"/>
          </a:solidFill>
          <a:ln/>
          <a:effectLst>
            <a:outerShdw sx="100000" sy="100000" kx="0" ky="0" algn="bl" rotWithShape="0" blurRad="63500" dist="25400" dir="8100000">
              <a:srgbClr val="000000">
                <a:alpha val="10000"/>
              </a:srgbClr>
            </a:outerShdw>
          </a:effectLst>
        </p:spPr>
      </p:sp>
      <p:sp>
        <p:nvSpPr>
          <p:cNvPr id="27" name="Text 25"/>
          <p:cNvSpPr/>
          <p:nvPr/>
        </p:nvSpPr>
        <p:spPr>
          <a:xfrm>
            <a:off x="5330952" y="1783080"/>
            <a:ext cx="3200400" cy="640080"/>
          </a:xfrm>
          <a:prstGeom prst="rect">
            <a:avLst/>
          </a:prstGeom>
          <a:noFill/>
          <a:ln/>
        </p:spPr>
        <p:txBody>
          <a:bodyPr wrap="square" rtlCol="0" anchor="ctr"/>
          <a:lstStyle/>
          <a:p>
            <a:pPr indent="0" marL="0">
              <a:buNone/>
            </a:pPr>
            <a:r>
              <a:rPr lang="en-US" sz="1300" b="1" dirty="0">
                <a:solidFill>
                  <a:srgbClr val="2C4A2E"/>
                </a:solidFill>
              </a:rPr>
              <a:t>Gap &amp; Hypothesis
</a:t>
            </a:r>
            <a:pPr indent="0" marL="0">
              <a:buNone/>
            </a:pPr>
            <a:r>
              <a:rPr lang="en-US" sz="1000" dirty="0">
                <a:solidFill>
                  <a:srgbClr val="6B7280"/>
                </a:solidFill>
              </a:rPr>
              <a:t>What's missing — and what we're testing</a:t>
            </a:r>
            <a:endParaRPr lang="en-US" sz="1300" dirty="0"/>
          </a:p>
        </p:txBody>
      </p:sp>
      <p:sp>
        <p:nvSpPr>
          <p:cNvPr id="28" name="Shape 26"/>
          <p:cNvSpPr/>
          <p:nvPr/>
        </p:nvSpPr>
        <p:spPr>
          <a:xfrm>
            <a:off x="4617720" y="2651760"/>
            <a:ext cx="594360" cy="804672"/>
          </a:xfrm>
          <a:prstGeom prst="rect">
            <a:avLst/>
          </a:prstGeom>
          <a:solidFill>
            <a:srgbClr val="2C4A2E"/>
          </a:solidFill>
          <a:ln/>
          <a:effectLst>
            <a:outerShdw sx="100000" sy="100000" kx="0" ky="0" algn="bl" rotWithShape="0" blurRad="63500" dist="25400" dir="8100000">
              <a:srgbClr val="000000">
                <a:alpha val="10000"/>
              </a:srgbClr>
            </a:outerShdw>
          </a:effectLst>
        </p:spPr>
      </p:sp>
      <p:sp>
        <p:nvSpPr>
          <p:cNvPr id="29" name="Text 27"/>
          <p:cNvSpPr/>
          <p:nvPr/>
        </p:nvSpPr>
        <p:spPr>
          <a:xfrm>
            <a:off x="4617720" y="2651760"/>
            <a:ext cx="594360" cy="804672"/>
          </a:xfrm>
          <a:prstGeom prst="rect">
            <a:avLst/>
          </a:prstGeom>
          <a:noFill/>
          <a:ln/>
        </p:spPr>
        <p:txBody>
          <a:bodyPr wrap="square" lIns="0" tIns="0" rIns="0" bIns="0" rtlCol="0" anchor="ctr"/>
          <a:lstStyle/>
          <a:p>
            <a:pPr algn="ctr" indent="0" marL="0">
              <a:buNone/>
            </a:pPr>
            <a:r>
              <a:rPr lang="en-US" sz="1700" b="1" dirty="0">
                <a:solidFill>
                  <a:srgbClr val="FFFFFF"/>
                </a:solidFill>
              </a:rPr>
              <a:t>05</a:t>
            </a:r>
            <a:endParaRPr lang="en-US" sz="1700" dirty="0"/>
          </a:p>
        </p:txBody>
      </p:sp>
      <p:sp>
        <p:nvSpPr>
          <p:cNvPr id="30" name="Shape 28"/>
          <p:cNvSpPr/>
          <p:nvPr/>
        </p:nvSpPr>
        <p:spPr>
          <a:xfrm>
            <a:off x="5212080" y="2651760"/>
            <a:ext cx="3383280" cy="804672"/>
          </a:xfrm>
          <a:prstGeom prst="rect">
            <a:avLst/>
          </a:prstGeom>
          <a:solidFill>
            <a:srgbClr val="EEE8DC"/>
          </a:solidFill>
          <a:ln/>
          <a:effectLst>
            <a:outerShdw sx="100000" sy="100000" kx="0" ky="0" algn="bl" rotWithShape="0" blurRad="63500" dist="25400" dir="8100000">
              <a:srgbClr val="000000">
                <a:alpha val="10000"/>
              </a:srgbClr>
            </a:outerShdw>
          </a:effectLst>
        </p:spPr>
      </p:sp>
      <p:sp>
        <p:nvSpPr>
          <p:cNvPr id="31" name="Text 29"/>
          <p:cNvSpPr/>
          <p:nvPr/>
        </p:nvSpPr>
        <p:spPr>
          <a:xfrm>
            <a:off x="5330952" y="2743200"/>
            <a:ext cx="3200400" cy="640080"/>
          </a:xfrm>
          <a:prstGeom prst="rect">
            <a:avLst/>
          </a:prstGeom>
          <a:noFill/>
          <a:ln/>
        </p:spPr>
        <p:txBody>
          <a:bodyPr wrap="square" rtlCol="0" anchor="ctr"/>
          <a:lstStyle/>
          <a:p>
            <a:pPr indent="0" marL="0">
              <a:buNone/>
            </a:pPr>
            <a:r>
              <a:rPr lang="en-US" sz="1300" b="1" dirty="0">
                <a:solidFill>
                  <a:srgbClr val="2C4A2E"/>
                </a:solidFill>
              </a:rPr>
              <a:t>Our Methodology
</a:t>
            </a:r>
            <a:pPr indent="0" marL="0">
              <a:buNone/>
            </a:pPr>
            <a:r>
              <a:rPr lang="en-US" sz="1000" dirty="0">
                <a:solidFill>
                  <a:srgbClr val="6B7280"/>
                </a:solidFill>
              </a:rPr>
              <a:t>Dataset, models, and how we built our pipeline</a:t>
            </a:r>
            <a:endParaRPr lang="en-US" sz="1300" dirty="0"/>
          </a:p>
        </p:txBody>
      </p:sp>
      <p:sp>
        <p:nvSpPr>
          <p:cNvPr id="32" name="Shape 30"/>
          <p:cNvSpPr/>
          <p:nvPr/>
        </p:nvSpPr>
        <p:spPr>
          <a:xfrm>
            <a:off x="4617720" y="3611880"/>
            <a:ext cx="594360" cy="804672"/>
          </a:xfrm>
          <a:prstGeom prst="rect">
            <a:avLst/>
          </a:prstGeom>
          <a:solidFill>
            <a:srgbClr val="2C4A2E"/>
          </a:solidFill>
          <a:ln/>
          <a:effectLst>
            <a:outerShdw sx="100000" sy="100000" kx="0" ky="0" algn="bl" rotWithShape="0" blurRad="63500" dist="25400" dir="8100000">
              <a:srgbClr val="000000">
                <a:alpha val="10000"/>
              </a:srgbClr>
            </a:outerShdw>
          </a:effectLst>
        </p:spPr>
      </p:sp>
      <p:sp>
        <p:nvSpPr>
          <p:cNvPr id="33" name="Text 31"/>
          <p:cNvSpPr/>
          <p:nvPr/>
        </p:nvSpPr>
        <p:spPr>
          <a:xfrm>
            <a:off x="4617720" y="3611880"/>
            <a:ext cx="594360" cy="804672"/>
          </a:xfrm>
          <a:prstGeom prst="rect">
            <a:avLst/>
          </a:prstGeom>
          <a:noFill/>
          <a:ln/>
        </p:spPr>
        <p:txBody>
          <a:bodyPr wrap="square" lIns="0" tIns="0" rIns="0" bIns="0" rtlCol="0" anchor="ctr"/>
          <a:lstStyle/>
          <a:p>
            <a:pPr algn="ctr" indent="0" marL="0">
              <a:buNone/>
            </a:pPr>
            <a:r>
              <a:rPr lang="en-US" sz="1700" b="1" dirty="0">
                <a:solidFill>
                  <a:srgbClr val="FFFFFF"/>
                </a:solidFill>
              </a:rPr>
              <a:t>06</a:t>
            </a:r>
            <a:endParaRPr lang="en-US" sz="1700" dirty="0"/>
          </a:p>
        </p:txBody>
      </p:sp>
      <p:sp>
        <p:nvSpPr>
          <p:cNvPr id="34" name="Shape 32"/>
          <p:cNvSpPr/>
          <p:nvPr/>
        </p:nvSpPr>
        <p:spPr>
          <a:xfrm>
            <a:off x="5212080" y="3611880"/>
            <a:ext cx="3383280" cy="804672"/>
          </a:xfrm>
          <a:prstGeom prst="rect">
            <a:avLst/>
          </a:prstGeom>
          <a:solidFill>
            <a:srgbClr val="EEE8DC"/>
          </a:solidFill>
          <a:ln/>
          <a:effectLst>
            <a:outerShdw sx="100000" sy="100000" kx="0" ky="0" algn="bl" rotWithShape="0" blurRad="63500" dist="25400" dir="8100000">
              <a:srgbClr val="000000">
                <a:alpha val="10000"/>
              </a:srgbClr>
            </a:outerShdw>
          </a:effectLst>
        </p:spPr>
      </p:sp>
      <p:sp>
        <p:nvSpPr>
          <p:cNvPr id="35" name="Text 33"/>
          <p:cNvSpPr/>
          <p:nvPr/>
        </p:nvSpPr>
        <p:spPr>
          <a:xfrm>
            <a:off x="5330952" y="3703320"/>
            <a:ext cx="3200400" cy="640080"/>
          </a:xfrm>
          <a:prstGeom prst="rect">
            <a:avLst/>
          </a:prstGeom>
          <a:noFill/>
          <a:ln/>
        </p:spPr>
        <p:txBody>
          <a:bodyPr wrap="square" rtlCol="0" anchor="ctr"/>
          <a:lstStyle/>
          <a:p>
            <a:pPr indent="0" marL="0">
              <a:buNone/>
            </a:pPr>
            <a:r>
              <a:rPr lang="en-US" sz="1300" b="1" dirty="0">
                <a:solidFill>
                  <a:srgbClr val="2C4A2E"/>
                </a:solidFill>
              </a:rPr>
              <a:t>Results &amp; Future Work
</a:t>
            </a:r>
            <a:pPr indent="0" marL="0">
              <a:buNone/>
            </a:pPr>
            <a:r>
              <a:rPr lang="en-US" sz="1000" dirty="0">
                <a:solidFill>
                  <a:srgbClr val="6B7280"/>
                </a:solidFill>
              </a:rPr>
              <a:t>What we found and what comes next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0" y="0"/>
            <a:ext cx="2286000" cy="329184"/>
          </a:xfrm>
          <a:prstGeom prst="rect">
            <a:avLst/>
          </a:prstGeom>
          <a:solidFill>
            <a:srgbClr val="2C4A2E"/>
          </a:solidFill>
          <a:ln/>
        </p:spPr>
      </p:sp>
      <p:sp>
        <p:nvSpPr>
          <p:cNvPr id="3" name="Text 1"/>
          <p:cNvSpPr/>
          <p:nvPr/>
        </p:nvSpPr>
        <p:spPr>
          <a:xfrm>
            <a:off x="109728" y="36576"/>
            <a:ext cx="2103120" cy="256032"/>
          </a:xfrm>
          <a:prstGeom prst="rect">
            <a:avLst/>
          </a:prstGeom>
          <a:noFill/>
          <a:ln/>
        </p:spPr>
        <p:txBody>
          <a:bodyPr wrap="square" lIns="0" tIns="0" rIns="0" bIns="0" rtlCol="0" anchor="ctr"/>
          <a:lstStyle/>
          <a:p>
            <a:pPr indent="0" marL="0">
              <a:buNone/>
            </a:pPr>
            <a:r>
              <a:rPr lang="en-US" sz="900" dirty="0">
                <a:solidFill>
                  <a:srgbClr val="FFFFFF"/>
                </a:solidFill>
              </a:rPr>
              <a:t>DS340W | Spring 2026</a:t>
            </a:r>
            <a:endParaRPr lang="en-US" sz="900" dirty="0"/>
          </a:p>
        </p:txBody>
      </p:sp>
      <p:sp>
        <p:nvSpPr>
          <p:cNvPr id="4" name="Shape 2"/>
          <p:cNvSpPr/>
          <p:nvPr/>
        </p:nvSpPr>
        <p:spPr>
          <a:xfrm>
            <a:off x="0" y="4873752"/>
            <a:ext cx="1280160" cy="274320"/>
          </a:xfrm>
          <a:prstGeom prst="rect">
            <a:avLst/>
          </a:prstGeom>
          <a:solidFill>
            <a:srgbClr val="2C4A2E"/>
          </a:solidFill>
          <a:ln/>
        </p:spPr>
      </p:sp>
      <p:sp>
        <p:nvSpPr>
          <p:cNvPr id="5" name="Shape 3"/>
          <p:cNvSpPr/>
          <p:nvPr/>
        </p:nvSpPr>
        <p:spPr>
          <a:xfrm>
            <a:off x="1371600" y="4873752"/>
            <a:ext cx="7772400" cy="274320"/>
          </a:xfrm>
          <a:prstGeom prst="rect">
            <a:avLst/>
          </a:prstGeom>
          <a:solidFill>
            <a:srgbClr val="3D6B40"/>
          </a:solidFill>
          <a:ln/>
        </p:spPr>
      </p:sp>
      <p:sp>
        <p:nvSpPr>
          <p:cNvPr id="6" name="Text 4"/>
          <p:cNvSpPr/>
          <p:nvPr/>
        </p:nvSpPr>
        <p:spPr>
          <a:xfrm>
            <a:off x="8412480" y="73152"/>
            <a:ext cx="685800" cy="384048"/>
          </a:xfrm>
          <a:prstGeom prst="rect">
            <a:avLst/>
          </a:prstGeom>
          <a:noFill/>
          <a:ln/>
        </p:spPr>
        <p:txBody>
          <a:bodyPr wrap="square" lIns="0" tIns="0" rIns="0" bIns="0" rtlCol="0" anchor="ctr"/>
          <a:lstStyle/>
          <a:p>
            <a:pPr algn="r" indent="0" marL="0">
              <a:buNone/>
            </a:pPr>
            <a:r>
              <a:rPr lang="en-US" sz="2000" b="1" dirty="0">
                <a:solidFill>
                  <a:srgbClr val="2C4A2E"/>
                </a:solidFill>
              </a:rPr>
              <a:t>02</a:t>
            </a:r>
            <a:endParaRPr lang="en-US" sz="2000" dirty="0"/>
          </a:p>
        </p:txBody>
      </p:sp>
      <p:sp>
        <p:nvSpPr>
          <p:cNvPr id="7" name="Text 5"/>
          <p:cNvSpPr/>
          <p:nvPr/>
        </p:nvSpPr>
        <p:spPr>
          <a:xfrm>
            <a:off x="457200" y="457200"/>
            <a:ext cx="8229600" cy="658368"/>
          </a:xfrm>
          <a:prstGeom prst="rect">
            <a:avLst/>
          </a:prstGeom>
          <a:noFill/>
          <a:ln/>
        </p:spPr>
        <p:txBody>
          <a:bodyPr wrap="square" rtlCol="0" anchor="ctr"/>
          <a:lstStyle/>
          <a:p>
            <a:pPr algn="ctr" indent="0" marL="0">
              <a:buNone/>
            </a:pPr>
            <a:r>
              <a:rPr lang="en-US" sz="3400" dirty="0">
                <a:solidFill>
                  <a:srgbClr val="2C4A2E"/>
                </a:solidFill>
                <a:latin typeface="Georgia" pitchFamily="34" charset="0"/>
                <a:ea typeface="Georgia" pitchFamily="34" charset="-122"/>
                <a:cs typeface="Georgia" pitchFamily="34" charset="-120"/>
              </a:rPr>
              <a:t>Why Does This Matter?</a:t>
            </a:r>
            <a:endParaRPr lang="en-US" sz="3400" dirty="0"/>
          </a:p>
        </p:txBody>
      </p:sp>
      <p:sp>
        <p:nvSpPr>
          <p:cNvPr id="8" name="Shape 6"/>
          <p:cNvSpPr/>
          <p:nvPr/>
        </p:nvSpPr>
        <p:spPr>
          <a:xfrm>
            <a:off x="411480" y="1371600"/>
            <a:ext cx="4114800" cy="1298448"/>
          </a:xfrm>
          <a:prstGeom prst="rect">
            <a:avLst/>
          </a:prstGeom>
          <a:solidFill>
            <a:srgbClr val="2C4A2E"/>
          </a:solidFill>
          <a:ln/>
          <a:effectLst>
            <a:outerShdw sx="100000" sy="100000" kx="0" ky="0" algn="bl" rotWithShape="0" blurRad="63500" dist="25400" dir="8100000">
              <a:srgbClr val="000000">
                <a:alpha val="10000"/>
              </a:srgbClr>
            </a:outerShdw>
          </a:effectLst>
        </p:spPr>
      </p:sp>
      <p:sp>
        <p:nvSpPr>
          <p:cNvPr id="9" name="Text 7"/>
          <p:cNvSpPr/>
          <p:nvPr/>
        </p:nvSpPr>
        <p:spPr>
          <a:xfrm>
            <a:off x="576072" y="1463040"/>
            <a:ext cx="3749040" cy="45720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43%</a:t>
            </a:r>
            <a:endParaRPr lang="en-US" sz="2000" dirty="0"/>
          </a:p>
        </p:txBody>
      </p:sp>
      <p:sp>
        <p:nvSpPr>
          <p:cNvPr id="10" name="Text 8"/>
          <p:cNvSpPr/>
          <p:nvPr/>
        </p:nvSpPr>
        <p:spPr>
          <a:xfrm>
            <a:off x="576072" y="1920240"/>
            <a:ext cx="3749040" cy="640080"/>
          </a:xfrm>
          <a:prstGeom prst="rect">
            <a:avLst/>
          </a:prstGeom>
          <a:noFill/>
          <a:ln/>
        </p:spPr>
        <p:txBody>
          <a:bodyPr wrap="square" rtlCol="0" anchor="ctr"/>
          <a:lstStyle/>
          <a:p>
            <a:pPr indent="0" marL="0">
              <a:lnSpc>
                <a:spcPct val="130000"/>
              </a:lnSpc>
              <a:buNone/>
            </a:pPr>
            <a:r>
              <a:rPr lang="en-US" sz="1100" dirty="0">
                <a:solidFill>
                  <a:srgbClr val="EEE8DC"/>
                </a:solidFill>
              </a:rPr>
              <a:t>of college students in the US work part-time while studying (NCES, 2023)</a:t>
            </a:r>
            <a:endParaRPr lang="en-US" sz="1100" dirty="0"/>
          </a:p>
        </p:txBody>
      </p:sp>
      <p:sp>
        <p:nvSpPr>
          <p:cNvPr id="11" name="Shape 9"/>
          <p:cNvSpPr/>
          <p:nvPr/>
        </p:nvSpPr>
        <p:spPr>
          <a:xfrm>
            <a:off x="411480" y="2834640"/>
            <a:ext cx="4114800" cy="1298448"/>
          </a:xfrm>
          <a:prstGeom prst="rect">
            <a:avLst/>
          </a:prstGeom>
          <a:solidFill>
            <a:srgbClr val="2C4A2E"/>
          </a:solidFill>
          <a:ln/>
          <a:effectLst>
            <a:outerShdw sx="100000" sy="100000" kx="0" ky="0" algn="bl" rotWithShape="0" blurRad="63500" dist="25400" dir="8100000">
              <a:srgbClr val="000000">
                <a:alpha val="10000"/>
              </a:srgbClr>
            </a:outerShdw>
          </a:effectLst>
        </p:spPr>
      </p:sp>
      <p:sp>
        <p:nvSpPr>
          <p:cNvPr id="12" name="Text 10"/>
          <p:cNvSpPr/>
          <p:nvPr/>
        </p:nvSpPr>
        <p:spPr>
          <a:xfrm>
            <a:off x="576072" y="2926080"/>
            <a:ext cx="3749040" cy="45720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Working students</a:t>
            </a:r>
            <a:endParaRPr lang="en-US" sz="2000" dirty="0"/>
          </a:p>
        </p:txBody>
      </p:sp>
      <p:sp>
        <p:nvSpPr>
          <p:cNvPr id="13" name="Text 11"/>
          <p:cNvSpPr/>
          <p:nvPr/>
        </p:nvSpPr>
        <p:spPr>
          <a:xfrm>
            <a:off x="576072" y="3383280"/>
            <a:ext cx="3749040" cy="640080"/>
          </a:xfrm>
          <a:prstGeom prst="rect">
            <a:avLst/>
          </a:prstGeom>
          <a:noFill/>
          <a:ln/>
        </p:spPr>
        <p:txBody>
          <a:bodyPr wrap="square" rtlCol="0" anchor="ctr"/>
          <a:lstStyle/>
          <a:p>
            <a:pPr indent="0" marL="0">
              <a:lnSpc>
                <a:spcPct val="130000"/>
              </a:lnSpc>
              <a:buNone/>
            </a:pPr>
            <a:r>
              <a:rPr lang="en-US" sz="1100" dirty="0">
                <a:solidFill>
                  <a:srgbClr val="EEE8DC"/>
                </a:solidFill>
              </a:rPr>
              <a:t>often struggle to balance shifts, deadlines, and sleep — affecting how engaged they are in class</a:t>
            </a:r>
            <a:endParaRPr lang="en-US" sz="1100" dirty="0"/>
          </a:p>
        </p:txBody>
      </p:sp>
      <p:sp>
        <p:nvSpPr>
          <p:cNvPr id="14" name="Shape 12"/>
          <p:cNvSpPr/>
          <p:nvPr/>
        </p:nvSpPr>
        <p:spPr>
          <a:xfrm>
            <a:off x="4709160" y="1371600"/>
            <a:ext cx="4114800" cy="1298448"/>
          </a:xfrm>
          <a:prstGeom prst="rect">
            <a:avLst/>
          </a:prstGeom>
          <a:solidFill>
            <a:srgbClr val="2C4A2E"/>
          </a:solidFill>
          <a:ln/>
          <a:effectLst>
            <a:outerShdw sx="100000" sy="100000" kx="0" ky="0" algn="bl" rotWithShape="0" blurRad="63500" dist="25400" dir="8100000">
              <a:srgbClr val="000000">
                <a:alpha val="10000"/>
              </a:srgbClr>
            </a:outerShdw>
          </a:effectLst>
        </p:spPr>
      </p:sp>
      <p:sp>
        <p:nvSpPr>
          <p:cNvPr id="15" name="Text 13"/>
          <p:cNvSpPr/>
          <p:nvPr/>
        </p:nvSpPr>
        <p:spPr>
          <a:xfrm>
            <a:off x="4873752" y="1463040"/>
            <a:ext cx="3749040" cy="45720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Financial pressure</a:t>
            </a:r>
            <a:endParaRPr lang="en-US" sz="2000" dirty="0"/>
          </a:p>
        </p:txBody>
      </p:sp>
      <p:sp>
        <p:nvSpPr>
          <p:cNvPr id="16" name="Text 14"/>
          <p:cNvSpPr/>
          <p:nvPr/>
        </p:nvSpPr>
        <p:spPr>
          <a:xfrm>
            <a:off x="4873752" y="1920240"/>
            <a:ext cx="3749040" cy="640080"/>
          </a:xfrm>
          <a:prstGeom prst="rect">
            <a:avLst/>
          </a:prstGeom>
          <a:noFill/>
          <a:ln/>
        </p:spPr>
        <p:txBody>
          <a:bodyPr wrap="square" rtlCol="0" anchor="ctr"/>
          <a:lstStyle/>
          <a:p>
            <a:pPr indent="0" marL="0">
              <a:lnSpc>
                <a:spcPct val="130000"/>
              </a:lnSpc>
              <a:buNone/>
            </a:pPr>
            <a:r>
              <a:rPr lang="en-US" sz="1100" dirty="0">
                <a:solidFill>
                  <a:srgbClr val="EEE8DC"/>
                </a:solidFill>
              </a:rPr>
              <a:t>is one of the top reasons students drop out before finishing their degree</a:t>
            </a:r>
            <a:endParaRPr lang="en-US" sz="1100" dirty="0"/>
          </a:p>
        </p:txBody>
      </p:sp>
      <p:sp>
        <p:nvSpPr>
          <p:cNvPr id="17" name="Shape 15"/>
          <p:cNvSpPr/>
          <p:nvPr/>
        </p:nvSpPr>
        <p:spPr>
          <a:xfrm>
            <a:off x="4709160" y="2834640"/>
            <a:ext cx="4114800" cy="1298448"/>
          </a:xfrm>
          <a:prstGeom prst="rect">
            <a:avLst/>
          </a:prstGeom>
          <a:solidFill>
            <a:srgbClr val="2C4A2E"/>
          </a:solidFill>
          <a:ln/>
          <a:effectLst>
            <a:outerShdw sx="100000" sy="100000" kx="0" ky="0" algn="bl" rotWithShape="0" blurRad="63500" dist="25400" dir="8100000">
              <a:srgbClr val="000000">
                <a:alpha val="10000"/>
              </a:srgbClr>
            </a:outerShdw>
          </a:effectLst>
        </p:spPr>
      </p:sp>
      <p:sp>
        <p:nvSpPr>
          <p:cNvPr id="18" name="Text 16"/>
          <p:cNvSpPr/>
          <p:nvPr/>
        </p:nvSpPr>
        <p:spPr>
          <a:xfrm>
            <a:off x="4873752" y="2926080"/>
            <a:ext cx="3749040" cy="45720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Most ML models</a:t>
            </a:r>
            <a:endParaRPr lang="en-US" sz="2000" dirty="0"/>
          </a:p>
        </p:txBody>
      </p:sp>
      <p:sp>
        <p:nvSpPr>
          <p:cNvPr id="19" name="Text 17"/>
          <p:cNvSpPr/>
          <p:nvPr/>
        </p:nvSpPr>
        <p:spPr>
          <a:xfrm>
            <a:off x="4873752" y="3383280"/>
            <a:ext cx="3749040" cy="640080"/>
          </a:xfrm>
          <a:prstGeom prst="rect">
            <a:avLst/>
          </a:prstGeom>
          <a:noFill/>
          <a:ln/>
        </p:spPr>
        <p:txBody>
          <a:bodyPr wrap="square" rtlCol="0" anchor="ctr"/>
          <a:lstStyle/>
          <a:p>
            <a:pPr indent="0" marL="0">
              <a:lnSpc>
                <a:spcPct val="130000"/>
              </a:lnSpc>
              <a:buNone/>
            </a:pPr>
            <a:r>
              <a:rPr lang="en-US" sz="1100" dirty="0">
                <a:solidFill>
                  <a:srgbClr val="EEE8DC"/>
                </a:solidFill>
              </a:rPr>
              <a:t>only look at grades — they ignore whether a student is working and how that shapes their habits</a:t>
            </a:r>
            <a:endParaRPr lang="en-US" sz="1100" dirty="0"/>
          </a:p>
        </p:txBody>
      </p:sp>
      <p:sp>
        <p:nvSpPr>
          <p:cNvPr id="20" name="Text 18"/>
          <p:cNvSpPr/>
          <p:nvPr/>
        </p:nvSpPr>
        <p:spPr>
          <a:xfrm>
            <a:off x="411480" y="4434840"/>
            <a:ext cx="8321040" cy="384048"/>
          </a:xfrm>
          <a:prstGeom prst="rect">
            <a:avLst/>
          </a:prstGeom>
          <a:noFill/>
          <a:ln/>
        </p:spPr>
        <p:txBody>
          <a:bodyPr wrap="square" rtlCol="0" anchor="ctr"/>
          <a:lstStyle/>
          <a:p>
            <a:pPr algn="ctr" indent="0" marL="0">
              <a:buNone/>
            </a:pPr>
            <a:r>
              <a:rPr lang="en-US" sz="1150" i="1" dirty="0">
                <a:solidFill>
                  <a:srgbClr val="2C4A2E"/>
                </a:solidFill>
              </a:rPr>
              <a:t>Our question: Can we use machine learning to understand how part-time work shapes student academic engagement and well-being?</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0" y="0"/>
            <a:ext cx="2286000" cy="329184"/>
          </a:xfrm>
          <a:prstGeom prst="rect">
            <a:avLst/>
          </a:prstGeom>
          <a:solidFill>
            <a:srgbClr val="2C4A2E"/>
          </a:solidFill>
          <a:ln/>
        </p:spPr>
      </p:sp>
      <p:sp>
        <p:nvSpPr>
          <p:cNvPr id="3" name="Text 1"/>
          <p:cNvSpPr/>
          <p:nvPr/>
        </p:nvSpPr>
        <p:spPr>
          <a:xfrm>
            <a:off x="109728" y="36576"/>
            <a:ext cx="2103120" cy="256032"/>
          </a:xfrm>
          <a:prstGeom prst="rect">
            <a:avLst/>
          </a:prstGeom>
          <a:noFill/>
          <a:ln/>
        </p:spPr>
        <p:txBody>
          <a:bodyPr wrap="square" lIns="0" tIns="0" rIns="0" bIns="0" rtlCol="0" anchor="ctr"/>
          <a:lstStyle/>
          <a:p>
            <a:pPr indent="0" marL="0">
              <a:buNone/>
            </a:pPr>
            <a:r>
              <a:rPr lang="en-US" sz="900" dirty="0">
                <a:solidFill>
                  <a:srgbClr val="FFFFFF"/>
                </a:solidFill>
              </a:rPr>
              <a:t>DS340W | Spring 2026</a:t>
            </a:r>
            <a:endParaRPr lang="en-US" sz="900" dirty="0"/>
          </a:p>
        </p:txBody>
      </p:sp>
      <p:sp>
        <p:nvSpPr>
          <p:cNvPr id="4" name="Shape 2"/>
          <p:cNvSpPr/>
          <p:nvPr/>
        </p:nvSpPr>
        <p:spPr>
          <a:xfrm>
            <a:off x="0" y="4873752"/>
            <a:ext cx="1280160" cy="274320"/>
          </a:xfrm>
          <a:prstGeom prst="rect">
            <a:avLst/>
          </a:prstGeom>
          <a:solidFill>
            <a:srgbClr val="2C4A2E"/>
          </a:solidFill>
          <a:ln/>
        </p:spPr>
      </p:sp>
      <p:sp>
        <p:nvSpPr>
          <p:cNvPr id="5" name="Shape 3"/>
          <p:cNvSpPr/>
          <p:nvPr/>
        </p:nvSpPr>
        <p:spPr>
          <a:xfrm>
            <a:off x="1371600" y="4873752"/>
            <a:ext cx="7772400" cy="274320"/>
          </a:xfrm>
          <a:prstGeom prst="rect">
            <a:avLst/>
          </a:prstGeom>
          <a:solidFill>
            <a:srgbClr val="3D6B40"/>
          </a:solidFill>
          <a:ln/>
        </p:spPr>
      </p:sp>
      <p:sp>
        <p:nvSpPr>
          <p:cNvPr id="6" name="Text 4"/>
          <p:cNvSpPr/>
          <p:nvPr/>
        </p:nvSpPr>
        <p:spPr>
          <a:xfrm>
            <a:off x="8412480" y="73152"/>
            <a:ext cx="685800" cy="384048"/>
          </a:xfrm>
          <a:prstGeom prst="rect">
            <a:avLst/>
          </a:prstGeom>
          <a:noFill/>
          <a:ln/>
        </p:spPr>
        <p:txBody>
          <a:bodyPr wrap="square" lIns="0" tIns="0" rIns="0" bIns="0" rtlCol="0" anchor="ctr"/>
          <a:lstStyle/>
          <a:p>
            <a:pPr algn="r" indent="0" marL="0">
              <a:buNone/>
            </a:pPr>
            <a:r>
              <a:rPr lang="en-US" sz="2000" b="1" dirty="0">
                <a:solidFill>
                  <a:srgbClr val="2C4A2E"/>
                </a:solidFill>
              </a:rPr>
              <a:t>03</a:t>
            </a:r>
            <a:endParaRPr lang="en-US" sz="2000" dirty="0"/>
          </a:p>
        </p:txBody>
      </p:sp>
      <p:sp>
        <p:nvSpPr>
          <p:cNvPr id="7" name="Shape 5"/>
          <p:cNvSpPr/>
          <p:nvPr/>
        </p:nvSpPr>
        <p:spPr>
          <a:xfrm>
            <a:off x="411480" y="384048"/>
            <a:ext cx="2377440" cy="292608"/>
          </a:xfrm>
          <a:prstGeom prst="rect">
            <a:avLst/>
          </a:prstGeom>
          <a:solidFill>
            <a:srgbClr val="2C4A2E"/>
          </a:solidFill>
          <a:ln/>
        </p:spPr>
      </p:sp>
      <p:sp>
        <p:nvSpPr>
          <p:cNvPr id="8" name="Text 6"/>
          <p:cNvSpPr/>
          <p:nvPr/>
        </p:nvSpPr>
        <p:spPr>
          <a:xfrm>
            <a:off x="411480" y="384048"/>
            <a:ext cx="2377440" cy="292608"/>
          </a:xfrm>
          <a:prstGeom prst="rect">
            <a:avLst/>
          </a:prstGeom>
          <a:noFill/>
          <a:ln/>
        </p:spPr>
        <p:txBody>
          <a:bodyPr wrap="square" lIns="0" tIns="0" rIns="0" bIns="0" rtlCol="0" anchor="ctr"/>
          <a:lstStyle/>
          <a:p>
            <a:pPr algn="ctr" indent="0" marL="0">
              <a:buNone/>
            </a:pPr>
            <a:r>
              <a:rPr lang="en-US" sz="1000" b="1" dirty="0">
                <a:solidFill>
                  <a:srgbClr val="FFFFFF"/>
                </a:solidFill>
              </a:rPr>
              <a:t>Parent Paper</a:t>
            </a:r>
            <a:endParaRPr lang="en-US" sz="1000" dirty="0"/>
          </a:p>
        </p:txBody>
      </p:sp>
      <p:sp>
        <p:nvSpPr>
          <p:cNvPr id="9" name="Text 7"/>
          <p:cNvSpPr/>
          <p:nvPr/>
        </p:nvSpPr>
        <p:spPr>
          <a:xfrm>
            <a:off x="411480" y="749808"/>
            <a:ext cx="8321040" cy="530352"/>
          </a:xfrm>
          <a:prstGeom prst="rect">
            <a:avLst/>
          </a:prstGeom>
          <a:noFill/>
          <a:ln/>
        </p:spPr>
        <p:txBody>
          <a:bodyPr wrap="square" rtlCol="0" anchor="ctr"/>
          <a:lstStyle/>
          <a:p>
            <a:pPr indent="0" marL="0">
              <a:buNone/>
            </a:pPr>
            <a:r>
              <a:rPr lang="en-US" sz="1800" b="1" dirty="0">
                <a:solidFill>
                  <a:srgbClr val="2C4A2E"/>
                </a:solidFill>
                <a:latin typeface="Georgia" pitchFamily="34" charset="0"/>
                <a:ea typeface="Georgia" pitchFamily="34" charset="-122"/>
                <a:cs typeface="Georgia" pitchFamily="34" charset="-120"/>
              </a:rPr>
              <a:t>Alhamadi (2025) — Predicting Students' Academic Performance Using Machine Learning</a:t>
            </a:r>
            <a:endParaRPr lang="en-US" sz="1800" dirty="0"/>
          </a:p>
        </p:txBody>
      </p:sp>
      <p:sp>
        <p:nvSpPr>
          <p:cNvPr id="10" name="Shape 8"/>
          <p:cNvSpPr/>
          <p:nvPr/>
        </p:nvSpPr>
        <p:spPr>
          <a:xfrm>
            <a:off x="411480" y="1389888"/>
            <a:ext cx="4069080" cy="3364992"/>
          </a:xfrm>
          <a:prstGeom prst="rect">
            <a:avLst/>
          </a:prstGeom>
          <a:solidFill>
            <a:srgbClr val="2C4A2E"/>
          </a:solidFill>
          <a:ln/>
          <a:effectLst>
            <a:outerShdw sx="100000" sy="100000" kx="0" ky="0" algn="bl" rotWithShape="0" blurRad="63500" dist="25400" dir="8100000">
              <a:srgbClr val="000000">
                <a:alpha val="10000"/>
              </a:srgbClr>
            </a:outerShdw>
          </a:effectLst>
        </p:spPr>
      </p:sp>
      <p:sp>
        <p:nvSpPr>
          <p:cNvPr id="11" name="Text 9"/>
          <p:cNvSpPr/>
          <p:nvPr/>
        </p:nvSpPr>
        <p:spPr>
          <a:xfrm>
            <a:off x="548640" y="1481328"/>
            <a:ext cx="3749040" cy="329184"/>
          </a:xfrm>
          <a:prstGeom prst="rect">
            <a:avLst/>
          </a:prstGeom>
          <a:noFill/>
          <a:ln/>
        </p:spPr>
        <p:txBody>
          <a:bodyPr wrap="square" lIns="0" tIns="0" rIns="0" bIns="0" rtlCol="0" anchor="ctr"/>
          <a:lstStyle/>
          <a:p>
            <a:pPr indent="0" marL="0">
              <a:buNone/>
            </a:pPr>
            <a:r>
              <a:rPr lang="en-US" sz="1300" b="1" dirty="0">
                <a:solidFill>
                  <a:srgbClr val="FFFFFF"/>
                </a:solidFill>
              </a:rPr>
              <a:t>What They Did</a:t>
            </a:r>
            <a:endParaRPr lang="en-US" sz="1300" dirty="0"/>
          </a:p>
        </p:txBody>
      </p:sp>
      <p:sp>
        <p:nvSpPr>
          <p:cNvPr id="12" name="Text 10"/>
          <p:cNvSpPr/>
          <p:nvPr/>
        </p:nvSpPr>
        <p:spPr>
          <a:xfrm>
            <a:off x="548640" y="1874520"/>
            <a:ext cx="3794760" cy="594360"/>
          </a:xfrm>
          <a:prstGeom prst="rect">
            <a:avLst/>
          </a:prstGeom>
          <a:noFill/>
          <a:ln/>
        </p:spPr>
        <p:txBody>
          <a:bodyPr wrap="square" rtlCol="0" anchor="ctr"/>
          <a:lstStyle/>
          <a:p>
            <a:pPr indent="0" marL="0">
              <a:lnSpc>
                <a:spcPct val="125000"/>
              </a:lnSpc>
              <a:buNone/>
            </a:pPr>
            <a:r>
              <a:rPr lang="en-US" sz="1100" b="1" dirty="0">
                <a:solidFill>
                  <a:srgbClr val="EEE8DC"/>
                </a:solidFill>
              </a:rPr>
              <a:t>Dataset: </a:t>
            </a:r>
            <a:pPr indent="0" marL="0">
              <a:lnSpc>
                <a:spcPct val="125000"/>
              </a:lnSpc>
              <a:buNone/>
            </a:pPr>
            <a:r>
              <a:rPr lang="en-US" sz="1100" dirty="0">
                <a:solidFill>
                  <a:srgbClr val="C8DCC8"/>
                </a:solidFill>
              </a:rPr>
              <a:t>Real student records — grades, attendance, and school involvement</a:t>
            </a:r>
            <a:endParaRPr lang="en-US" sz="1100" dirty="0"/>
          </a:p>
        </p:txBody>
      </p:sp>
      <p:sp>
        <p:nvSpPr>
          <p:cNvPr id="13" name="Text 11"/>
          <p:cNvSpPr/>
          <p:nvPr/>
        </p:nvSpPr>
        <p:spPr>
          <a:xfrm>
            <a:off x="548640" y="2532888"/>
            <a:ext cx="3794760" cy="594360"/>
          </a:xfrm>
          <a:prstGeom prst="rect">
            <a:avLst/>
          </a:prstGeom>
          <a:noFill/>
          <a:ln/>
        </p:spPr>
        <p:txBody>
          <a:bodyPr wrap="square" rtlCol="0" anchor="ctr"/>
          <a:lstStyle/>
          <a:p>
            <a:pPr indent="0" marL="0">
              <a:lnSpc>
                <a:spcPct val="125000"/>
              </a:lnSpc>
              <a:buNone/>
            </a:pPr>
            <a:r>
              <a:rPr lang="en-US" sz="1100" b="1" dirty="0">
                <a:solidFill>
                  <a:srgbClr val="EEE8DC"/>
                </a:solidFill>
              </a:rPr>
              <a:t>Models tested: </a:t>
            </a:r>
            <a:pPr indent="0" marL="0">
              <a:lnSpc>
                <a:spcPct val="125000"/>
              </a:lnSpc>
              <a:buNone/>
            </a:pPr>
            <a:r>
              <a:rPr lang="en-US" sz="1100" dirty="0">
                <a:solidFill>
                  <a:srgbClr val="C8DCC8"/>
                </a:solidFill>
              </a:rPr>
              <a:t>6 different ML models: Logistic Regression, Random Forest, Gradient Boosting, KNN, SVM, and a Neural Network</a:t>
            </a:r>
            <a:endParaRPr lang="en-US" sz="1100" dirty="0"/>
          </a:p>
        </p:txBody>
      </p:sp>
      <p:sp>
        <p:nvSpPr>
          <p:cNvPr id="14" name="Text 12"/>
          <p:cNvSpPr/>
          <p:nvPr/>
        </p:nvSpPr>
        <p:spPr>
          <a:xfrm>
            <a:off x="548640" y="3191256"/>
            <a:ext cx="3794760" cy="594360"/>
          </a:xfrm>
          <a:prstGeom prst="rect">
            <a:avLst/>
          </a:prstGeom>
          <a:noFill/>
          <a:ln/>
        </p:spPr>
        <p:txBody>
          <a:bodyPr wrap="square" rtlCol="0" anchor="ctr"/>
          <a:lstStyle/>
          <a:p>
            <a:pPr indent="0" marL="0">
              <a:lnSpc>
                <a:spcPct val="125000"/>
              </a:lnSpc>
              <a:buNone/>
            </a:pPr>
            <a:r>
              <a:rPr lang="en-US" sz="1100" b="1" dirty="0">
                <a:solidFill>
                  <a:srgbClr val="EEE8DC"/>
                </a:solidFill>
              </a:rPr>
              <a:t>Best result: </a:t>
            </a:r>
            <a:pPr indent="0" marL="0">
              <a:lnSpc>
                <a:spcPct val="125000"/>
              </a:lnSpc>
              <a:buNone/>
            </a:pPr>
            <a:r>
              <a:rPr lang="en-US" sz="1100" dirty="0">
                <a:solidFill>
                  <a:srgbClr val="C8DCC8"/>
                </a:solidFill>
              </a:rPr>
              <a:t>Random Forest and Gradient Boosting worked best — 92% accuracy</a:t>
            </a:r>
            <a:endParaRPr lang="en-US" sz="1100" dirty="0"/>
          </a:p>
        </p:txBody>
      </p:sp>
      <p:sp>
        <p:nvSpPr>
          <p:cNvPr id="15" name="Text 13"/>
          <p:cNvSpPr/>
          <p:nvPr/>
        </p:nvSpPr>
        <p:spPr>
          <a:xfrm>
            <a:off x="548640" y="3849624"/>
            <a:ext cx="3794760" cy="594360"/>
          </a:xfrm>
          <a:prstGeom prst="rect">
            <a:avLst/>
          </a:prstGeom>
          <a:noFill/>
          <a:ln/>
        </p:spPr>
        <p:txBody>
          <a:bodyPr wrap="square" rtlCol="0" anchor="ctr"/>
          <a:lstStyle/>
          <a:p>
            <a:pPr indent="0" marL="0">
              <a:lnSpc>
                <a:spcPct val="125000"/>
              </a:lnSpc>
              <a:buNone/>
            </a:pPr>
            <a:r>
              <a:rPr lang="en-US" sz="1100" b="1" dirty="0">
                <a:solidFill>
                  <a:srgbClr val="EEE8DC"/>
                </a:solidFill>
              </a:rPr>
              <a:t>Key finding: </a:t>
            </a:r>
            <a:pPr indent="0" marL="0">
              <a:lnSpc>
                <a:spcPct val="125000"/>
              </a:lnSpc>
              <a:buNone/>
            </a:pPr>
            <a:r>
              <a:rPr lang="en-US" sz="1100" dirty="0">
                <a:solidFill>
                  <a:srgbClr val="C8DCC8"/>
                </a:solidFill>
              </a:rPr>
              <a:t>The biggest predictors were past GPA and how often students missed class</a:t>
            </a:r>
            <a:endParaRPr lang="en-US" sz="1100" dirty="0"/>
          </a:p>
        </p:txBody>
      </p:sp>
      <p:sp>
        <p:nvSpPr>
          <p:cNvPr id="16" name="Shape 14"/>
          <p:cNvSpPr/>
          <p:nvPr/>
        </p:nvSpPr>
        <p:spPr>
          <a:xfrm>
            <a:off x="4617720" y="1389888"/>
            <a:ext cx="4069080" cy="1536192"/>
          </a:xfrm>
          <a:prstGeom prst="rect">
            <a:avLst/>
          </a:prstGeom>
          <a:solidFill>
            <a:srgbClr val="EEE8DC"/>
          </a:solidFill>
          <a:ln/>
          <a:effectLst>
            <a:outerShdw sx="100000" sy="100000" kx="0" ky="0" algn="bl" rotWithShape="0" blurRad="63500" dist="25400" dir="8100000">
              <a:srgbClr val="000000">
                <a:alpha val="10000"/>
              </a:srgbClr>
            </a:outerShdw>
          </a:effectLst>
        </p:spPr>
      </p:sp>
      <p:sp>
        <p:nvSpPr>
          <p:cNvPr id="17" name="Text 15"/>
          <p:cNvSpPr/>
          <p:nvPr/>
        </p:nvSpPr>
        <p:spPr>
          <a:xfrm>
            <a:off x="4736592" y="1481328"/>
            <a:ext cx="3794760" cy="274320"/>
          </a:xfrm>
          <a:prstGeom prst="rect">
            <a:avLst/>
          </a:prstGeom>
          <a:noFill/>
          <a:ln/>
        </p:spPr>
        <p:txBody>
          <a:bodyPr wrap="square" lIns="0" tIns="0" rIns="0" bIns="0" rtlCol="0" anchor="ctr"/>
          <a:lstStyle/>
          <a:p>
            <a:pPr indent="0" marL="0">
              <a:buNone/>
            </a:pPr>
            <a:r>
              <a:rPr lang="en-US" sz="1200" b="1" dirty="0">
                <a:solidFill>
                  <a:srgbClr val="2C4A2E"/>
                </a:solidFill>
              </a:rPr>
              <a:t>What They Did Well</a:t>
            </a:r>
            <a:endParaRPr lang="en-US" sz="1200" dirty="0"/>
          </a:p>
        </p:txBody>
      </p:sp>
      <p:sp>
        <p:nvSpPr>
          <p:cNvPr id="18" name="Text 16"/>
          <p:cNvSpPr/>
          <p:nvPr/>
        </p:nvSpPr>
        <p:spPr>
          <a:xfrm>
            <a:off x="4736592" y="1810512"/>
            <a:ext cx="3794760" cy="960120"/>
          </a:xfrm>
          <a:prstGeom prst="rect">
            <a:avLst/>
          </a:prstGeom>
          <a:noFill/>
          <a:ln/>
        </p:spPr>
        <p:txBody>
          <a:bodyPr wrap="square" rtlCol="0" anchor="ctr"/>
          <a:lstStyle/>
          <a:p>
            <a:pPr indent="0" marL="0">
              <a:lnSpc>
                <a:spcPct val="130000"/>
              </a:lnSpc>
              <a:buNone/>
            </a:pPr>
            <a:r>
              <a:rPr lang="en-US" sz="1100" dirty="0">
                <a:solidFill>
                  <a:srgbClr val="2C4A2E"/>
                </a:solidFill>
              </a:rPr>
              <a:t>• Compared 6 ML models fairly on the same data
</a:t>
            </a:r>
            <a:pPr indent="0" marL="0">
              <a:lnSpc>
                <a:spcPct val="130000"/>
              </a:lnSpc>
              <a:buNone/>
            </a:pPr>
            <a:r>
              <a:rPr lang="en-US" sz="1100" dirty="0">
                <a:solidFill>
                  <a:srgbClr val="2C4A2E"/>
                </a:solidFill>
              </a:rPr>
              <a:t>• Showed that ensemble models (combining multiple decision trees) work best for this kind of prediction</a:t>
            </a:r>
            <a:endParaRPr lang="en-US" sz="1100" dirty="0"/>
          </a:p>
        </p:txBody>
      </p:sp>
      <p:sp>
        <p:nvSpPr>
          <p:cNvPr id="19" name="Shape 17"/>
          <p:cNvSpPr/>
          <p:nvPr/>
        </p:nvSpPr>
        <p:spPr>
          <a:xfrm>
            <a:off x="4617720" y="2999232"/>
            <a:ext cx="4069080" cy="329184"/>
          </a:xfrm>
          <a:prstGeom prst="rect">
            <a:avLst/>
          </a:prstGeom>
          <a:solidFill>
            <a:srgbClr val="3D6B40"/>
          </a:solidFill>
          <a:ln/>
        </p:spPr>
      </p:sp>
      <p:sp>
        <p:nvSpPr>
          <p:cNvPr id="20" name="Text 18"/>
          <p:cNvSpPr/>
          <p:nvPr/>
        </p:nvSpPr>
        <p:spPr>
          <a:xfrm>
            <a:off x="4709160" y="2999232"/>
            <a:ext cx="3931920" cy="329184"/>
          </a:xfrm>
          <a:prstGeom prst="rect">
            <a:avLst/>
          </a:prstGeom>
          <a:noFill/>
          <a:ln/>
        </p:spPr>
        <p:txBody>
          <a:bodyPr wrap="square" lIns="0" tIns="0" rIns="0" bIns="0" rtlCol="0" anchor="ctr"/>
          <a:lstStyle/>
          <a:p>
            <a:pPr indent="0" marL="0">
              <a:buNone/>
            </a:pPr>
            <a:r>
              <a:rPr lang="en-US" sz="1100" b="1" dirty="0">
                <a:solidFill>
                  <a:srgbClr val="FFFFFF"/>
                </a:solidFill>
              </a:rPr>
              <a:t>What's Missing — Our Opening</a:t>
            </a:r>
            <a:endParaRPr lang="en-US" sz="1100" dirty="0"/>
          </a:p>
        </p:txBody>
      </p:sp>
      <p:sp>
        <p:nvSpPr>
          <p:cNvPr id="21" name="Shape 19"/>
          <p:cNvSpPr/>
          <p:nvPr/>
        </p:nvSpPr>
        <p:spPr>
          <a:xfrm>
            <a:off x="4617720" y="3328416"/>
            <a:ext cx="4069080" cy="1426464"/>
          </a:xfrm>
          <a:prstGeom prst="rect">
            <a:avLst/>
          </a:prstGeom>
          <a:solidFill>
            <a:srgbClr val="EEE8DC"/>
          </a:solidFill>
          <a:ln/>
          <a:effectLst>
            <a:outerShdw sx="100000" sy="100000" kx="0" ky="0" algn="bl" rotWithShape="0" blurRad="63500" dist="25400" dir="8100000">
              <a:srgbClr val="000000">
                <a:alpha val="10000"/>
              </a:srgbClr>
            </a:outerShdw>
          </a:effectLst>
        </p:spPr>
      </p:sp>
      <p:sp>
        <p:nvSpPr>
          <p:cNvPr id="22" name="Text 20"/>
          <p:cNvSpPr/>
          <p:nvPr/>
        </p:nvSpPr>
        <p:spPr>
          <a:xfrm>
            <a:off x="4736592" y="3401568"/>
            <a:ext cx="3840480" cy="1280160"/>
          </a:xfrm>
          <a:prstGeom prst="rect">
            <a:avLst/>
          </a:prstGeom>
          <a:noFill/>
          <a:ln/>
        </p:spPr>
        <p:txBody>
          <a:bodyPr wrap="square" rtlCol="0" anchor="ctr"/>
          <a:lstStyle/>
          <a:p>
            <a:pPr indent="0" marL="0">
              <a:lnSpc>
                <a:spcPct val="130000"/>
              </a:lnSpc>
              <a:buNone/>
            </a:pPr>
            <a:r>
              <a:rPr lang="en-US" sz="1050" dirty="0">
                <a:solidFill>
                  <a:srgbClr val="2C4A2E"/>
                </a:solidFill>
              </a:rPr>
              <a:t>• Only looked at one high school group — hard to generalize
</a:t>
            </a:r>
            <a:pPr indent="0" marL="0">
              <a:lnSpc>
                <a:spcPct val="130000"/>
              </a:lnSpc>
              <a:buNone/>
            </a:pPr>
            <a:r>
              <a:rPr lang="en-US" sz="1050" dirty="0">
                <a:solidFill>
                  <a:srgbClr val="2C4A2E"/>
                </a:solidFill>
              </a:rPr>
              <a:t>• No lifestyle data: no sleep, no jobs, no screen time
</a:t>
            </a:r>
            <a:pPr indent="0" marL="0">
              <a:lnSpc>
                <a:spcPct val="130000"/>
              </a:lnSpc>
              <a:buNone/>
            </a:pPr>
            <a:r>
              <a:rPr lang="en-US" sz="1050" dirty="0">
                <a:solidFill>
                  <a:srgbClr val="2C4A2E"/>
                </a:solidFill>
              </a:rPr>
              <a:t>• Didn't handle the imbalance problem (fewer failing students in data)
</a:t>
            </a:r>
            <a:pPr indent="0" marL="0">
              <a:lnSpc>
                <a:spcPct val="130000"/>
              </a:lnSpc>
              <a:buNone/>
            </a:pPr>
            <a:r>
              <a:rPr lang="en-US" sz="1050" dirty="0">
                <a:solidFill>
                  <a:srgbClr val="2C4A2E"/>
                </a:solidFill>
              </a:rPr>
              <a:t>• No explanation of WHY the model made each prediction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0" y="0"/>
            <a:ext cx="2286000" cy="329184"/>
          </a:xfrm>
          <a:prstGeom prst="rect">
            <a:avLst/>
          </a:prstGeom>
          <a:solidFill>
            <a:srgbClr val="2C4A2E"/>
          </a:solidFill>
          <a:ln/>
        </p:spPr>
      </p:sp>
      <p:sp>
        <p:nvSpPr>
          <p:cNvPr id="3" name="Text 1"/>
          <p:cNvSpPr/>
          <p:nvPr/>
        </p:nvSpPr>
        <p:spPr>
          <a:xfrm>
            <a:off x="109728" y="36576"/>
            <a:ext cx="2103120" cy="256032"/>
          </a:xfrm>
          <a:prstGeom prst="rect">
            <a:avLst/>
          </a:prstGeom>
          <a:noFill/>
          <a:ln/>
        </p:spPr>
        <p:txBody>
          <a:bodyPr wrap="square" lIns="0" tIns="0" rIns="0" bIns="0" rtlCol="0" anchor="ctr"/>
          <a:lstStyle/>
          <a:p>
            <a:pPr indent="0" marL="0">
              <a:buNone/>
            </a:pPr>
            <a:r>
              <a:rPr lang="en-US" sz="900" dirty="0">
                <a:solidFill>
                  <a:srgbClr val="FFFFFF"/>
                </a:solidFill>
              </a:rPr>
              <a:t>DS340W | Spring 2026</a:t>
            </a:r>
            <a:endParaRPr lang="en-US" sz="900" dirty="0"/>
          </a:p>
        </p:txBody>
      </p:sp>
      <p:sp>
        <p:nvSpPr>
          <p:cNvPr id="4" name="Shape 2"/>
          <p:cNvSpPr/>
          <p:nvPr/>
        </p:nvSpPr>
        <p:spPr>
          <a:xfrm>
            <a:off x="0" y="4873752"/>
            <a:ext cx="1280160" cy="274320"/>
          </a:xfrm>
          <a:prstGeom prst="rect">
            <a:avLst/>
          </a:prstGeom>
          <a:solidFill>
            <a:srgbClr val="2C4A2E"/>
          </a:solidFill>
          <a:ln/>
        </p:spPr>
      </p:sp>
      <p:sp>
        <p:nvSpPr>
          <p:cNvPr id="5" name="Shape 3"/>
          <p:cNvSpPr/>
          <p:nvPr/>
        </p:nvSpPr>
        <p:spPr>
          <a:xfrm>
            <a:off x="1371600" y="4873752"/>
            <a:ext cx="7772400" cy="274320"/>
          </a:xfrm>
          <a:prstGeom prst="rect">
            <a:avLst/>
          </a:prstGeom>
          <a:solidFill>
            <a:srgbClr val="3D6B40"/>
          </a:solidFill>
          <a:ln/>
        </p:spPr>
      </p:sp>
      <p:sp>
        <p:nvSpPr>
          <p:cNvPr id="6" name="Text 4"/>
          <p:cNvSpPr/>
          <p:nvPr/>
        </p:nvSpPr>
        <p:spPr>
          <a:xfrm>
            <a:off x="8412480" y="73152"/>
            <a:ext cx="685800" cy="384048"/>
          </a:xfrm>
          <a:prstGeom prst="rect">
            <a:avLst/>
          </a:prstGeom>
          <a:noFill/>
          <a:ln/>
        </p:spPr>
        <p:txBody>
          <a:bodyPr wrap="square" lIns="0" tIns="0" rIns="0" bIns="0" rtlCol="0" anchor="ctr"/>
          <a:lstStyle/>
          <a:p>
            <a:pPr algn="r" indent="0" marL="0">
              <a:buNone/>
            </a:pPr>
            <a:r>
              <a:rPr lang="en-US" sz="2000" b="1" dirty="0">
                <a:solidFill>
                  <a:srgbClr val="2C4A2E"/>
                </a:solidFill>
              </a:rPr>
              <a:t>04</a:t>
            </a:r>
            <a:endParaRPr lang="en-US" sz="2000" dirty="0"/>
          </a:p>
        </p:txBody>
      </p:sp>
      <p:sp>
        <p:nvSpPr>
          <p:cNvPr id="7" name="Shape 5"/>
          <p:cNvSpPr/>
          <p:nvPr/>
        </p:nvSpPr>
        <p:spPr>
          <a:xfrm>
            <a:off x="411480" y="384048"/>
            <a:ext cx="2743200" cy="292608"/>
          </a:xfrm>
          <a:prstGeom prst="rect">
            <a:avLst/>
          </a:prstGeom>
          <a:solidFill>
            <a:srgbClr val="3D6B40"/>
          </a:solidFill>
          <a:ln/>
        </p:spPr>
      </p:sp>
      <p:sp>
        <p:nvSpPr>
          <p:cNvPr id="8" name="Text 6"/>
          <p:cNvSpPr/>
          <p:nvPr/>
        </p:nvSpPr>
        <p:spPr>
          <a:xfrm>
            <a:off x="411480" y="384048"/>
            <a:ext cx="2743200" cy="292608"/>
          </a:xfrm>
          <a:prstGeom prst="rect">
            <a:avLst/>
          </a:prstGeom>
          <a:noFill/>
          <a:ln/>
        </p:spPr>
        <p:txBody>
          <a:bodyPr wrap="square" lIns="0" tIns="0" rIns="0" bIns="0" rtlCol="0" anchor="ctr"/>
          <a:lstStyle/>
          <a:p>
            <a:pPr algn="ctr" indent="0" marL="0">
              <a:buNone/>
            </a:pPr>
            <a:r>
              <a:rPr lang="en-US" sz="1000" b="1" dirty="0">
                <a:solidFill>
                  <a:srgbClr val="FFFFFF"/>
                </a:solidFill>
              </a:rPr>
              <a:t>Reference Paper 1</a:t>
            </a:r>
            <a:endParaRPr lang="en-US" sz="1000" dirty="0"/>
          </a:p>
        </p:txBody>
      </p:sp>
      <p:sp>
        <p:nvSpPr>
          <p:cNvPr id="9" name="Text 7"/>
          <p:cNvSpPr/>
          <p:nvPr/>
        </p:nvSpPr>
        <p:spPr>
          <a:xfrm>
            <a:off x="411480" y="749808"/>
            <a:ext cx="8321040" cy="502920"/>
          </a:xfrm>
          <a:prstGeom prst="rect">
            <a:avLst/>
          </a:prstGeom>
          <a:noFill/>
          <a:ln/>
        </p:spPr>
        <p:txBody>
          <a:bodyPr wrap="square" rtlCol="0" anchor="ctr"/>
          <a:lstStyle/>
          <a:p>
            <a:pPr indent="0" marL="0">
              <a:buNone/>
            </a:pPr>
            <a:r>
              <a:rPr lang="en-US" sz="1700" b="1" dirty="0">
                <a:solidFill>
                  <a:srgbClr val="2C4A2E"/>
                </a:solidFill>
                <a:latin typeface="Georgia" pitchFamily="34" charset="0"/>
                <a:ea typeface="Georgia" pitchFamily="34" charset="-122"/>
                <a:cs typeface="Georgia" pitchFamily="34" charset="-120"/>
              </a:rPr>
              <a:t>Kroupova, Havranek &amp; Irsova (2024) — Student Employment &amp; Education: A Meta-Analysis</a:t>
            </a:r>
            <a:endParaRPr lang="en-US" sz="1700" dirty="0"/>
          </a:p>
        </p:txBody>
      </p:sp>
      <p:sp>
        <p:nvSpPr>
          <p:cNvPr id="10" name="Shape 8"/>
          <p:cNvSpPr/>
          <p:nvPr/>
        </p:nvSpPr>
        <p:spPr>
          <a:xfrm>
            <a:off x="411480" y="1371600"/>
            <a:ext cx="2788920" cy="347472"/>
          </a:xfrm>
          <a:prstGeom prst="rect">
            <a:avLst/>
          </a:prstGeom>
          <a:solidFill>
            <a:srgbClr val="2C4A2E"/>
          </a:solidFill>
          <a:ln/>
        </p:spPr>
      </p:sp>
      <p:sp>
        <p:nvSpPr>
          <p:cNvPr id="11" name="Text 9"/>
          <p:cNvSpPr/>
          <p:nvPr/>
        </p:nvSpPr>
        <p:spPr>
          <a:xfrm>
            <a:off x="502920" y="1371600"/>
            <a:ext cx="2606040" cy="347472"/>
          </a:xfrm>
          <a:prstGeom prst="rect">
            <a:avLst/>
          </a:prstGeom>
          <a:noFill/>
          <a:ln/>
        </p:spPr>
        <p:txBody>
          <a:bodyPr wrap="square" lIns="0" tIns="0" rIns="0" bIns="0" rtlCol="0" anchor="ctr"/>
          <a:lstStyle/>
          <a:p>
            <a:pPr indent="0" marL="0">
              <a:buNone/>
            </a:pPr>
            <a:r>
              <a:rPr lang="en-US" sz="1150" b="1" dirty="0">
                <a:solidFill>
                  <a:srgbClr val="FFFFFF"/>
                </a:solidFill>
              </a:rPr>
              <a:t>What They Did</a:t>
            </a:r>
            <a:endParaRPr lang="en-US" sz="1150" dirty="0"/>
          </a:p>
        </p:txBody>
      </p:sp>
      <p:sp>
        <p:nvSpPr>
          <p:cNvPr id="12" name="Shape 10"/>
          <p:cNvSpPr/>
          <p:nvPr/>
        </p:nvSpPr>
        <p:spPr>
          <a:xfrm>
            <a:off x="411480" y="1719072"/>
            <a:ext cx="2788920" cy="2834640"/>
          </a:xfrm>
          <a:prstGeom prst="rect">
            <a:avLst/>
          </a:prstGeom>
          <a:solidFill>
            <a:srgbClr val="EEE8DC"/>
          </a:solidFill>
          <a:ln/>
          <a:effectLst>
            <a:outerShdw sx="100000" sy="100000" kx="0" ky="0" algn="bl" rotWithShape="0" blurRad="63500" dist="25400" dir="8100000">
              <a:srgbClr val="000000">
                <a:alpha val="10000"/>
              </a:srgbClr>
            </a:outerShdw>
          </a:effectLst>
        </p:spPr>
      </p:sp>
      <p:sp>
        <p:nvSpPr>
          <p:cNvPr id="13" name="Text 11"/>
          <p:cNvSpPr/>
          <p:nvPr/>
        </p:nvSpPr>
        <p:spPr>
          <a:xfrm>
            <a:off x="548640" y="1810512"/>
            <a:ext cx="2514600" cy="2651760"/>
          </a:xfrm>
          <a:prstGeom prst="rect">
            <a:avLst/>
          </a:prstGeom>
          <a:noFill/>
          <a:ln/>
        </p:spPr>
        <p:txBody>
          <a:bodyPr wrap="square" rtlCol="0" anchor="ctr"/>
          <a:lstStyle/>
          <a:p>
            <a:pPr indent="0" marL="0">
              <a:lnSpc>
                <a:spcPct val="138000"/>
              </a:lnSpc>
              <a:buNone/>
            </a:pPr>
            <a:r>
              <a:rPr lang="en-US" sz="1100" dirty="0">
                <a:solidFill>
                  <a:srgbClr val="2C4A2E"/>
                </a:solidFill>
              </a:rPr>
              <a:t>Instead of running one new study, they combined and analyzed 69 different studies from around the world — that's 861 separate data points. They used a method called Partial Correlation Coefficients (a way to compare results across different studies on a fair scale) and tested 32 variables to see what actually matters.</a:t>
            </a:r>
            <a:endParaRPr lang="en-US" sz="1100" dirty="0"/>
          </a:p>
        </p:txBody>
      </p:sp>
      <p:sp>
        <p:nvSpPr>
          <p:cNvPr id="14" name="Shape 12"/>
          <p:cNvSpPr/>
          <p:nvPr/>
        </p:nvSpPr>
        <p:spPr>
          <a:xfrm>
            <a:off x="3310128" y="1371600"/>
            <a:ext cx="2788920" cy="347472"/>
          </a:xfrm>
          <a:prstGeom prst="rect">
            <a:avLst/>
          </a:prstGeom>
          <a:solidFill>
            <a:srgbClr val="3D6B40"/>
          </a:solidFill>
          <a:ln/>
        </p:spPr>
      </p:sp>
      <p:sp>
        <p:nvSpPr>
          <p:cNvPr id="15" name="Text 13"/>
          <p:cNvSpPr/>
          <p:nvPr/>
        </p:nvSpPr>
        <p:spPr>
          <a:xfrm>
            <a:off x="3401568" y="1371600"/>
            <a:ext cx="2606040" cy="347472"/>
          </a:xfrm>
          <a:prstGeom prst="rect">
            <a:avLst/>
          </a:prstGeom>
          <a:noFill/>
          <a:ln/>
        </p:spPr>
        <p:txBody>
          <a:bodyPr wrap="square" lIns="0" tIns="0" rIns="0" bIns="0" rtlCol="0" anchor="ctr"/>
          <a:lstStyle/>
          <a:p>
            <a:pPr indent="0" marL="0">
              <a:buNone/>
            </a:pPr>
            <a:r>
              <a:rPr lang="en-US" sz="1150" b="1" dirty="0">
                <a:solidFill>
                  <a:srgbClr val="FFFFFF"/>
                </a:solidFill>
              </a:rPr>
              <a:t>Key Finding</a:t>
            </a:r>
            <a:endParaRPr lang="en-US" sz="1150" dirty="0"/>
          </a:p>
        </p:txBody>
      </p:sp>
      <p:sp>
        <p:nvSpPr>
          <p:cNvPr id="16" name="Shape 14"/>
          <p:cNvSpPr/>
          <p:nvPr/>
        </p:nvSpPr>
        <p:spPr>
          <a:xfrm>
            <a:off x="3310128" y="1719072"/>
            <a:ext cx="2788920" cy="2834640"/>
          </a:xfrm>
          <a:prstGeom prst="rect">
            <a:avLst/>
          </a:prstGeom>
          <a:solidFill>
            <a:srgbClr val="EEE8DC"/>
          </a:solidFill>
          <a:ln/>
          <a:effectLst>
            <a:outerShdw sx="100000" sy="100000" kx="0" ky="0" algn="bl" rotWithShape="0" blurRad="63500" dist="25400" dir="8100000">
              <a:srgbClr val="000000">
                <a:alpha val="10000"/>
              </a:srgbClr>
            </a:outerShdw>
          </a:effectLst>
        </p:spPr>
      </p:sp>
      <p:sp>
        <p:nvSpPr>
          <p:cNvPr id="17" name="Text 15"/>
          <p:cNvSpPr/>
          <p:nvPr/>
        </p:nvSpPr>
        <p:spPr>
          <a:xfrm>
            <a:off x="3447288" y="1810512"/>
            <a:ext cx="2514600" cy="2651760"/>
          </a:xfrm>
          <a:prstGeom prst="rect">
            <a:avLst/>
          </a:prstGeom>
          <a:noFill/>
          <a:ln/>
        </p:spPr>
        <p:txBody>
          <a:bodyPr wrap="square" rtlCol="0" anchor="ctr"/>
          <a:lstStyle/>
          <a:p>
            <a:pPr indent="0" marL="0">
              <a:lnSpc>
                <a:spcPct val="138000"/>
              </a:lnSpc>
              <a:buNone/>
            </a:pPr>
            <a:r>
              <a:rPr lang="en-US" sz="1100" dirty="0">
                <a:solidFill>
                  <a:srgbClr val="2C4A2E"/>
                </a:solidFill>
              </a:rPr>
              <a:t>Students working part-time with low hours showed only a small drop in grades. But working 11+ hours per week caused a sharp decline in academic performance. Interestingly, Germany was the only country where student employment actually improved outcomes on average.</a:t>
            </a:r>
            <a:endParaRPr lang="en-US" sz="1100" dirty="0"/>
          </a:p>
        </p:txBody>
      </p:sp>
      <p:sp>
        <p:nvSpPr>
          <p:cNvPr id="18" name="Shape 16"/>
          <p:cNvSpPr/>
          <p:nvPr/>
        </p:nvSpPr>
        <p:spPr>
          <a:xfrm>
            <a:off x="6208776" y="1371600"/>
            <a:ext cx="2788920" cy="347472"/>
          </a:xfrm>
          <a:prstGeom prst="rect">
            <a:avLst/>
          </a:prstGeom>
          <a:solidFill>
            <a:srgbClr val="3D6B40"/>
          </a:solidFill>
          <a:ln/>
        </p:spPr>
      </p:sp>
      <p:sp>
        <p:nvSpPr>
          <p:cNvPr id="19" name="Text 17"/>
          <p:cNvSpPr/>
          <p:nvPr/>
        </p:nvSpPr>
        <p:spPr>
          <a:xfrm>
            <a:off x="6300216" y="1371600"/>
            <a:ext cx="2606040" cy="347472"/>
          </a:xfrm>
          <a:prstGeom prst="rect">
            <a:avLst/>
          </a:prstGeom>
          <a:noFill/>
          <a:ln/>
        </p:spPr>
        <p:txBody>
          <a:bodyPr wrap="square" lIns="0" tIns="0" rIns="0" bIns="0" rtlCol="0" anchor="ctr"/>
          <a:lstStyle/>
          <a:p>
            <a:pPr indent="0" marL="0">
              <a:buNone/>
            </a:pPr>
            <a:r>
              <a:rPr lang="en-US" sz="1150" b="1" dirty="0">
                <a:solidFill>
                  <a:srgbClr val="FFFFFF"/>
                </a:solidFill>
              </a:rPr>
              <a:t>Gap for Our Work</a:t>
            </a:r>
            <a:endParaRPr lang="en-US" sz="1150" dirty="0"/>
          </a:p>
        </p:txBody>
      </p:sp>
      <p:sp>
        <p:nvSpPr>
          <p:cNvPr id="20" name="Shape 18"/>
          <p:cNvSpPr/>
          <p:nvPr/>
        </p:nvSpPr>
        <p:spPr>
          <a:xfrm>
            <a:off x="6208776" y="1719072"/>
            <a:ext cx="2788920" cy="2834640"/>
          </a:xfrm>
          <a:prstGeom prst="rect">
            <a:avLst/>
          </a:prstGeom>
          <a:solidFill>
            <a:srgbClr val="EEE8DC"/>
          </a:solidFill>
          <a:ln/>
          <a:effectLst>
            <a:outerShdw sx="100000" sy="100000" kx="0" ky="0" algn="bl" rotWithShape="0" blurRad="63500" dist="25400" dir="8100000">
              <a:srgbClr val="000000">
                <a:alpha val="10000"/>
              </a:srgbClr>
            </a:outerShdw>
          </a:effectLst>
        </p:spPr>
      </p:sp>
      <p:sp>
        <p:nvSpPr>
          <p:cNvPr id="21" name="Text 19"/>
          <p:cNvSpPr/>
          <p:nvPr/>
        </p:nvSpPr>
        <p:spPr>
          <a:xfrm>
            <a:off x="6345936" y="1810512"/>
            <a:ext cx="2514600" cy="2651760"/>
          </a:xfrm>
          <a:prstGeom prst="rect">
            <a:avLst/>
          </a:prstGeom>
          <a:noFill/>
          <a:ln/>
        </p:spPr>
        <p:txBody>
          <a:bodyPr wrap="square" rtlCol="0" anchor="ctr"/>
          <a:lstStyle/>
          <a:p>
            <a:pPr indent="0" marL="0">
              <a:lnSpc>
                <a:spcPct val="138000"/>
              </a:lnSpc>
              <a:buNone/>
            </a:pPr>
            <a:r>
              <a:rPr lang="en-US" sz="1100" dirty="0">
                <a:solidFill>
                  <a:srgbClr val="2C4A2E"/>
                </a:solidFill>
              </a:rPr>
              <a:t>They treated all student jobs as one group — no breakdown by type or lifestyle impact. They used only statistical models, not machine learning. Our project goes further by adding real lifestyle variables (like sleep and screen time) into an ML pipeline.</a:t>
            </a:r>
            <a:endParaRPr lang="en-US" sz="1100" dirty="0"/>
          </a:p>
        </p:txBody>
      </p:sp>
      <p:sp>
        <p:nvSpPr>
          <p:cNvPr id="22" name="Text 20"/>
          <p:cNvSpPr/>
          <p:nvPr/>
        </p:nvSpPr>
        <p:spPr>
          <a:xfrm>
            <a:off x="411480" y="4617720"/>
            <a:ext cx="8321040" cy="292608"/>
          </a:xfrm>
          <a:prstGeom prst="rect">
            <a:avLst/>
          </a:prstGeom>
          <a:noFill/>
          <a:ln/>
        </p:spPr>
        <p:txBody>
          <a:bodyPr wrap="square" rtlCol="0" anchor="ctr"/>
          <a:lstStyle/>
          <a:p>
            <a:pPr algn="ctr" indent="0" marL="0">
              <a:buNone/>
            </a:pPr>
            <a:r>
              <a:rPr lang="en-US" sz="1050" i="1" dirty="0">
                <a:solidFill>
                  <a:srgbClr val="6B7280"/>
                </a:solidFill>
              </a:rPr>
              <a:t>Why this matters for us: Employment hours and lifestyle habits both compete for a student's time and energy — our model captures both.</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0" y="0"/>
            <a:ext cx="2286000" cy="329184"/>
          </a:xfrm>
          <a:prstGeom prst="rect">
            <a:avLst/>
          </a:prstGeom>
          <a:solidFill>
            <a:srgbClr val="2C4A2E"/>
          </a:solidFill>
          <a:ln/>
        </p:spPr>
      </p:sp>
      <p:sp>
        <p:nvSpPr>
          <p:cNvPr id="3" name="Text 1"/>
          <p:cNvSpPr/>
          <p:nvPr/>
        </p:nvSpPr>
        <p:spPr>
          <a:xfrm>
            <a:off x="109728" y="36576"/>
            <a:ext cx="2103120" cy="256032"/>
          </a:xfrm>
          <a:prstGeom prst="rect">
            <a:avLst/>
          </a:prstGeom>
          <a:noFill/>
          <a:ln/>
        </p:spPr>
        <p:txBody>
          <a:bodyPr wrap="square" lIns="0" tIns="0" rIns="0" bIns="0" rtlCol="0" anchor="ctr"/>
          <a:lstStyle/>
          <a:p>
            <a:pPr indent="0" marL="0">
              <a:buNone/>
            </a:pPr>
            <a:r>
              <a:rPr lang="en-US" sz="900" dirty="0">
                <a:solidFill>
                  <a:srgbClr val="FFFFFF"/>
                </a:solidFill>
              </a:rPr>
              <a:t>DS340W | Spring 2026</a:t>
            </a:r>
            <a:endParaRPr lang="en-US" sz="900" dirty="0"/>
          </a:p>
        </p:txBody>
      </p:sp>
      <p:sp>
        <p:nvSpPr>
          <p:cNvPr id="4" name="Shape 2"/>
          <p:cNvSpPr/>
          <p:nvPr/>
        </p:nvSpPr>
        <p:spPr>
          <a:xfrm>
            <a:off x="0" y="4873752"/>
            <a:ext cx="1280160" cy="274320"/>
          </a:xfrm>
          <a:prstGeom prst="rect">
            <a:avLst/>
          </a:prstGeom>
          <a:solidFill>
            <a:srgbClr val="2C4A2E"/>
          </a:solidFill>
          <a:ln/>
        </p:spPr>
      </p:sp>
      <p:sp>
        <p:nvSpPr>
          <p:cNvPr id="5" name="Shape 3"/>
          <p:cNvSpPr/>
          <p:nvPr/>
        </p:nvSpPr>
        <p:spPr>
          <a:xfrm>
            <a:off x="1371600" y="4873752"/>
            <a:ext cx="7772400" cy="274320"/>
          </a:xfrm>
          <a:prstGeom prst="rect">
            <a:avLst/>
          </a:prstGeom>
          <a:solidFill>
            <a:srgbClr val="3D6B40"/>
          </a:solidFill>
          <a:ln/>
        </p:spPr>
      </p:sp>
      <p:sp>
        <p:nvSpPr>
          <p:cNvPr id="6" name="Text 4"/>
          <p:cNvSpPr/>
          <p:nvPr/>
        </p:nvSpPr>
        <p:spPr>
          <a:xfrm>
            <a:off x="8412480" y="73152"/>
            <a:ext cx="685800" cy="384048"/>
          </a:xfrm>
          <a:prstGeom prst="rect">
            <a:avLst/>
          </a:prstGeom>
          <a:noFill/>
          <a:ln/>
        </p:spPr>
        <p:txBody>
          <a:bodyPr wrap="square" lIns="0" tIns="0" rIns="0" bIns="0" rtlCol="0" anchor="ctr"/>
          <a:lstStyle/>
          <a:p>
            <a:pPr algn="r" indent="0" marL="0">
              <a:buNone/>
            </a:pPr>
            <a:r>
              <a:rPr lang="en-US" sz="2000" b="1" dirty="0">
                <a:solidFill>
                  <a:srgbClr val="2C4A2E"/>
                </a:solidFill>
              </a:rPr>
              <a:t>05</a:t>
            </a:r>
            <a:endParaRPr lang="en-US" sz="2000" dirty="0"/>
          </a:p>
        </p:txBody>
      </p:sp>
      <p:sp>
        <p:nvSpPr>
          <p:cNvPr id="7" name="Shape 5"/>
          <p:cNvSpPr/>
          <p:nvPr/>
        </p:nvSpPr>
        <p:spPr>
          <a:xfrm>
            <a:off x="411480" y="384048"/>
            <a:ext cx="2743200" cy="292608"/>
          </a:xfrm>
          <a:prstGeom prst="rect">
            <a:avLst/>
          </a:prstGeom>
          <a:solidFill>
            <a:srgbClr val="3D6B40"/>
          </a:solidFill>
          <a:ln/>
        </p:spPr>
      </p:sp>
      <p:sp>
        <p:nvSpPr>
          <p:cNvPr id="8" name="Text 6"/>
          <p:cNvSpPr/>
          <p:nvPr/>
        </p:nvSpPr>
        <p:spPr>
          <a:xfrm>
            <a:off x="411480" y="384048"/>
            <a:ext cx="2743200" cy="292608"/>
          </a:xfrm>
          <a:prstGeom prst="rect">
            <a:avLst/>
          </a:prstGeom>
          <a:noFill/>
          <a:ln/>
        </p:spPr>
        <p:txBody>
          <a:bodyPr wrap="square" lIns="0" tIns="0" rIns="0" bIns="0" rtlCol="0" anchor="ctr"/>
          <a:lstStyle/>
          <a:p>
            <a:pPr algn="ctr" indent="0" marL="0">
              <a:buNone/>
            </a:pPr>
            <a:r>
              <a:rPr lang="en-US" sz="1000" b="1" dirty="0">
                <a:solidFill>
                  <a:srgbClr val="FFFFFF"/>
                </a:solidFill>
              </a:rPr>
              <a:t>Reference Paper 2</a:t>
            </a:r>
            <a:endParaRPr lang="en-US" sz="1000" dirty="0"/>
          </a:p>
        </p:txBody>
      </p:sp>
      <p:sp>
        <p:nvSpPr>
          <p:cNvPr id="9" name="Text 7"/>
          <p:cNvSpPr/>
          <p:nvPr/>
        </p:nvSpPr>
        <p:spPr>
          <a:xfrm>
            <a:off x="411480" y="749808"/>
            <a:ext cx="8321040" cy="502920"/>
          </a:xfrm>
          <a:prstGeom prst="rect">
            <a:avLst/>
          </a:prstGeom>
          <a:noFill/>
          <a:ln/>
        </p:spPr>
        <p:txBody>
          <a:bodyPr wrap="square" rtlCol="0" anchor="ctr"/>
          <a:lstStyle/>
          <a:p>
            <a:pPr indent="0" marL="0">
              <a:buNone/>
            </a:pPr>
            <a:r>
              <a:rPr lang="en-US" sz="1700" b="1" dirty="0">
                <a:solidFill>
                  <a:srgbClr val="2C4A2E"/>
                </a:solidFill>
                <a:latin typeface="Georgia" pitchFamily="34" charset="0"/>
                <a:ea typeface="Georgia" pitchFamily="34" charset="-122"/>
                <a:cs typeface="Georgia" pitchFamily="34" charset="-120"/>
              </a:rPr>
              <a:t>Thies (2023) — Effect of Student Employment on Academic Performance &amp; Study Progress</a:t>
            </a:r>
            <a:endParaRPr lang="en-US" sz="1700" dirty="0"/>
          </a:p>
        </p:txBody>
      </p:sp>
      <p:sp>
        <p:nvSpPr>
          <p:cNvPr id="10" name="Shape 8"/>
          <p:cNvSpPr/>
          <p:nvPr/>
        </p:nvSpPr>
        <p:spPr>
          <a:xfrm>
            <a:off x="411480" y="1371600"/>
            <a:ext cx="2788920" cy="347472"/>
          </a:xfrm>
          <a:prstGeom prst="rect">
            <a:avLst/>
          </a:prstGeom>
          <a:solidFill>
            <a:srgbClr val="2C4A2E"/>
          </a:solidFill>
          <a:ln/>
        </p:spPr>
      </p:sp>
      <p:sp>
        <p:nvSpPr>
          <p:cNvPr id="11" name="Text 9"/>
          <p:cNvSpPr/>
          <p:nvPr/>
        </p:nvSpPr>
        <p:spPr>
          <a:xfrm>
            <a:off x="502920" y="1371600"/>
            <a:ext cx="2606040" cy="347472"/>
          </a:xfrm>
          <a:prstGeom prst="rect">
            <a:avLst/>
          </a:prstGeom>
          <a:noFill/>
          <a:ln/>
        </p:spPr>
        <p:txBody>
          <a:bodyPr wrap="square" lIns="0" tIns="0" rIns="0" bIns="0" rtlCol="0" anchor="ctr"/>
          <a:lstStyle/>
          <a:p>
            <a:pPr indent="0" marL="0">
              <a:buNone/>
            </a:pPr>
            <a:r>
              <a:rPr lang="en-US" sz="1150" b="1" dirty="0">
                <a:solidFill>
                  <a:srgbClr val="FFFFFF"/>
                </a:solidFill>
              </a:rPr>
              <a:t>What They Did</a:t>
            </a:r>
            <a:endParaRPr lang="en-US" sz="1150" dirty="0"/>
          </a:p>
        </p:txBody>
      </p:sp>
      <p:sp>
        <p:nvSpPr>
          <p:cNvPr id="12" name="Shape 10"/>
          <p:cNvSpPr/>
          <p:nvPr/>
        </p:nvSpPr>
        <p:spPr>
          <a:xfrm>
            <a:off x="411480" y="1719072"/>
            <a:ext cx="2788920" cy="2834640"/>
          </a:xfrm>
          <a:prstGeom prst="rect">
            <a:avLst/>
          </a:prstGeom>
          <a:solidFill>
            <a:srgbClr val="EEE8DC"/>
          </a:solidFill>
          <a:ln/>
          <a:effectLst>
            <a:outerShdw sx="100000" sy="100000" kx="0" ky="0" algn="bl" rotWithShape="0" blurRad="63500" dist="25400" dir="8100000">
              <a:srgbClr val="000000">
                <a:alpha val="10000"/>
              </a:srgbClr>
            </a:outerShdw>
          </a:effectLst>
        </p:spPr>
      </p:sp>
      <p:sp>
        <p:nvSpPr>
          <p:cNvPr id="13" name="Text 11"/>
          <p:cNvSpPr/>
          <p:nvPr/>
        </p:nvSpPr>
        <p:spPr>
          <a:xfrm>
            <a:off x="548640" y="1810512"/>
            <a:ext cx="2514600" cy="2651760"/>
          </a:xfrm>
          <a:prstGeom prst="rect">
            <a:avLst/>
          </a:prstGeom>
          <a:noFill/>
          <a:ln/>
        </p:spPr>
        <p:txBody>
          <a:bodyPr wrap="square" rtlCol="0" anchor="ctr"/>
          <a:lstStyle/>
          <a:p>
            <a:pPr indent="0" marL="0">
              <a:lnSpc>
                <a:spcPct val="138000"/>
              </a:lnSpc>
              <a:buNone/>
            </a:pPr>
            <a:r>
              <a:rPr lang="en-US" sz="1100" dirty="0">
                <a:solidFill>
                  <a:srgbClr val="2C4A2E"/>
                </a:solidFill>
              </a:rPr>
              <a:t>Followed 1,625 international students across 125+ German universities over 4 semesters. Used a hybrid panel model — a method that compares each student to themselves over time, so results aren't skewed by who chose to work in the first place.</a:t>
            </a:r>
            <a:endParaRPr lang="en-US" sz="1100" dirty="0"/>
          </a:p>
        </p:txBody>
      </p:sp>
      <p:sp>
        <p:nvSpPr>
          <p:cNvPr id="14" name="Shape 12"/>
          <p:cNvSpPr/>
          <p:nvPr/>
        </p:nvSpPr>
        <p:spPr>
          <a:xfrm>
            <a:off x="3310128" y="1371600"/>
            <a:ext cx="2788920" cy="347472"/>
          </a:xfrm>
          <a:prstGeom prst="rect">
            <a:avLst/>
          </a:prstGeom>
          <a:solidFill>
            <a:srgbClr val="3D6B40"/>
          </a:solidFill>
          <a:ln/>
        </p:spPr>
      </p:sp>
      <p:sp>
        <p:nvSpPr>
          <p:cNvPr id="15" name="Text 13"/>
          <p:cNvSpPr/>
          <p:nvPr/>
        </p:nvSpPr>
        <p:spPr>
          <a:xfrm>
            <a:off x="3401568" y="1371600"/>
            <a:ext cx="2606040" cy="347472"/>
          </a:xfrm>
          <a:prstGeom prst="rect">
            <a:avLst/>
          </a:prstGeom>
          <a:noFill/>
          <a:ln/>
        </p:spPr>
        <p:txBody>
          <a:bodyPr wrap="square" lIns="0" tIns="0" rIns="0" bIns="0" rtlCol="0" anchor="ctr"/>
          <a:lstStyle/>
          <a:p>
            <a:pPr indent="0" marL="0">
              <a:buNone/>
            </a:pPr>
            <a:r>
              <a:rPr lang="en-US" sz="1150" b="1" dirty="0">
                <a:solidFill>
                  <a:srgbClr val="FFFFFF"/>
                </a:solidFill>
              </a:rPr>
              <a:t>Key Finding</a:t>
            </a:r>
            <a:endParaRPr lang="en-US" sz="1150" dirty="0"/>
          </a:p>
        </p:txBody>
      </p:sp>
      <p:sp>
        <p:nvSpPr>
          <p:cNvPr id="16" name="Shape 14"/>
          <p:cNvSpPr/>
          <p:nvPr/>
        </p:nvSpPr>
        <p:spPr>
          <a:xfrm>
            <a:off x="3310128" y="1719072"/>
            <a:ext cx="2788920" cy="2834640"/>
          </a:xfrm>
          <a:prstGeom prst="rect">
            <a:avLst/>
          </a:prstGeom>
          <a:solidFill>
            <a:srgbClr val="EEE8DC"/>
          </a:solidFill>
          <a:ln/>
          <a:effectLst>
            <a:outerShdw sx="100000" sy="100000" kx="0" ky="0" algn="bl" rotWithShape="0" blurRad="63500" dist="25400" dir="8100000">
              <a:srgbClr val="000000">
                <a:alpha val="10000"/>
              </a:srgbClr>
            </a:outerShdw>
          </a:effectLst>
        </p:spPr>
      </p:sp>
      <p:sp>
        <p:nvSpPr>
          <p:cNvPr id="17" name="Text 15"/>
          <p:cNvSpPr/>
          <p:nvPr/>
        </p:nvSpPr>
        <p:spPr>
          <a:xfrm>
            <a:off x="3447288" y="1810512"/>
            <a:ext cx="2514600" cy="2651760"/>
          </a:xfrm>
          <a:prstGeom prst="rect">
            <a:avLst/>
          </a:prstGeom>
          <a:noFill/>
          <a:ln/>
        </p:spPr>
        <p:txBody>
          <a:bodyPr wrap="square" rtlCol="0" anchor="ctr"/>
          <a:lstStyle/>
          <a:p>
            <a:pPr indent="0" marL="0">
              <a:lnSpc>
                <a:spcPct val="138000"/>
              </a:lnSpc>
              <a:buNone/>
            </a:pPr>
            <a:r>
              <a:rPr lang="en-US" sz="1100" dirty="0">
                <a:solidFill>
                  <a:srgbClr val="2C4A2E"/>
                </a:solidFill>
              </a:rPr>
              <a:t>Working part-time did NOT directly hurt grades — it depended on what kind of job and how many hours. Students working 11+ hours per week earned noticeably fewer credits per semester. STEM and Master's students were hit the hardest. Academic jobs had no negative effect on GPA.</a:t>
            </a:r>
            <a:endParaRPr lang="en-US" sz="1100" dirty="0"/>
          </a:p>
        </p:txBody>
      </p:sp>
      <p:sp>
        <p:nvSpPr>
          <p:cNvPr id="18" name="Shape 16"/>
          <p:cNvSpPr/>
          <p:nvPr/>
        </p:nvSpPr>
        <p:spPr>
          <a:xfrm>
            <a:off x="6208776" y="1371600"/>
            <a:ext cx="2788920" cy="347472"/>
          </a:xfrm>
          <a:prstGeom prst="rect">
            <a:avLst/>
          </a:prstGeom>
          <a:solidFill>
            <a:srgbClr val="3D6B40"/>
          </a:solidFill>
          <a:ln/>
        </p:spPr>
      </p:sp>
      <p:sp>
        <p:nvSpPr>
          <p:cNvPr id="19" name="Text 17"/>
          <p:cNvSpPr/>
          <p:nvPr/>
        </p:nvSpPr>
        <p:spPr>
          <a:xfrm>
            <a:off x="6300216" y="1371600"/>
            <a:ext cx="2606040" cy="347472"/>
          </a:xfrm>
          <a:prstGeom prst="rect">
            <a:avLst/>
          </a:prstGeom>
          <a:noFill/>
          <a:ln/>
        </p:spPr>
        <p:txBody>
          <a:bodyPr wrap="square" lIns="0" tIns="0" rIns="0" bIns="0" rtlCol="0" anchor="ctr"/>
          <a:lstStyle/>
          <a:p>
            <a:pPr indent="0" marL="0">
              <a:buNone/>
            </a:pPr>
            <a:r>
              <a:rPr lang="en-US" sz="1150" b="1" dirty="0">
                <a:solidFill>
                  <a:srgbClr val="FFFFFF"/>
                </a:solidFill>
              </a:rPr>
              <a:t>Gap for Our Work</a:t>
            </a:r>
            <a:endParaRPr lang="en-US" sz="1150" dirty="0"/>
          </a:p>
        </p:txBody>
      </p:sp>
      <p:sp>
        <p:nvSpPr>
          <p:cNvPr id="20" name="Shape 18"/>
          <p:cNvSpPr/>
          <p:nvPr/>
        </p:nvSpPr>
        <p:spPr>
          <a:xfrm>
            <a:off x="6208776" y="1719072"/>
            <a:ext cx="2788920" cy="2834640"/>
          </a:xfrm>
          <a:prstGeom prst="rect">
            <a:avLst/>
          </a:prstGeom>
          <a:solidFill>
            <a:srgbClr val="EEE8DC"/>
          </a:solidFill>
          <a:ln/>
          <a:effectLst>
            <a:outerShdw sx="100000" sy="100000" kx="0" ky="0" algn="bl" rotWithShape="0" blurRad="63500" dist="25400" dir="8100000">
              <a:srgbClr val="000000">
                <a:alpha val="10000"/>
              </a:srgbClr>
            </a:outerShdw>
          </a:effectLst>
        </p:spPr>
      </p:sp>
      <p:sp>
        <p:nvSpPr>
          <p:cNvPr id="21" name="Text 19"/>
          <p:cNvSpPr/>
          <p:nvPr/>
        </p:nvSpPr>
        <p:spPr>
          <a:xfrm>
            <a:off x="6345936" y="1810512"/>
            <a:ext cx="2514600" cy="2651760"/>
          </a:xfrm>
          <a:prstGeom prst="rect">
            <a:avLst/>
          </a:prstGeom>
          <a:noFill/>
          <a:ln/>
        </p:spPr>
        <p:txBody>
          <a:bodyPr wrap="square" rtlCol="0" anchor="ctr"/>
          <a:lstStyle/>
          <a:p>
            <a:pPr indent="0" marL="0">
              <a:lnSpc>
                <a:spcPct val="138000"/>
              </a:lnSpc>
              <a:buNone/>
            </a:pPr>
            <a:r>
              <a:rPr lang="en-US" sz="1100" dirty="0">
                <a:solidFill>
                  <a:srgbClr val="2C4A2E"/>
                </a:solidFill>
              </a:rPr>
              <a:t>Only focused on employment — no sleep, diet, or social behavior data included. Used traditional statistics, not machine learning. Our project takes this further by combining employment status with full lifestyle data in an ML model that can predict and explain outcomes.</a:t>
            </a:r>
            <a:endParaRPr lang="en-US" sz="1100" dirty="0"/>
          </a:p>
        </p:txBody>
      </p:sp>
      <p:sp>
        <p:nvSpPr>
          <p:cNvPr id="22" name="Text 20"/>
          <p:cNvSpPr/>
          <p:nvPr/>
        </p:nvSpPr>
        <p:spPr>
          <a:xfrm>
            <a:off x="411480" y="4617720"/>
            <a:ext cx="8321040" cy="292608"/>
          </a:xfrm>
          <a:prstGeom prst="rect">
            <a:avLst/>
          </a:prstGeom>
          <a:noFill/>
          <a:ln/>
        </p:spPr>
        <p:txBody>
          <a:bodyPr wrap="square" rtlCol="0" anchor="ctr"/>
          <a:lstStyle/>
          <a:p>
            <a:pPr algn="ctr" indent="0" marL="0">
              <a:buNone/>
            </a:pPr>
            <a:r>
              <a:rPr lang="en-US" sz="1050" i="1" dirty="0">
                <a:solidFill>
                  <a:srgbClr val="6B7280"/>
                </a:solidFill>
              </a:rPr>
              <a:t>Why this matters for us: We extend Thies's logic — instead of just tracking hours worked, we feed the full lifestyle picture into a machine learning model.</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C4A2E"/>
        </a:solidFill>
      </p:bgPr>
    </p:bg>
    <p:spTree>
      <p:nvGrpSpPr>
        <p:cNvPr id="1" name=""/>
        <p:cNvGrpSpPr/>
        <p:nvPr/>
      </p:nvGrpSpPr>
      <p:grpSpPr>
        <a:xfrm>
          <a:off x="0" y="0"/>
          <a:ext cx="0" cy="0"/>
          <a:chOff x="0" y="0"/>
          <a:chExt cx="0" cy="0"/>
        </a:xfrm>
      </p:grpSpPr>
      <p:sp>
        <p:nvSpPr>
          <p:cNvPr id="2" name="Text 0"/>
          <p:cNvSpPr/>
          <p:nvPr/>
        </p:nvSpPr>
        <p:spPr>
          <a:xfrm>
            <a:off x="8412480" y="73152"/>
            <a:ext cx="685800" cy="384048"/>
          </a:xfrm>
          <a:prstGeom prst="rect">
            <a:avLst/>
          </a:prstGeom>
          <a:noFill/>
          <a:ln/>
        </p:spPr>
        <p:txBody>
          <a:bodyPr wrap="square" lIns="0" tIns="0" rIns="0" bIns="0" rtlCol="0" anchor="ctr"/>
          <a:lstStyle/>
          <a:p>
            <a:pPr algn="r" indent="0" marL="0">
              <a:buNone/>
            </a:pPr>
            <a:r>
              <a:rPr lang="en-US" sz="2000" b="1" dirty="0">
                <a:solidFill>
                  <a:srgbClr val="2C4A2E"/>
                </a:solidFill>
              </a:rPr>
              <a:t>06</a:t>
            </a:r>
            <a:endParaRPr lang="en-US" sz="2000" dirty="0"/>
          </a:p>
        </p:txBody>
      </p:sp>
      <p:sp>
        <p:nvSpPr>
          <p:cNvPr id="3" name="Text 1"/>
          <p:cNvSpPr/>
          <p:nvPr/>
        </p:nvSpPr>
        <p:spPr>
          <a:xfrm>
            <a:off x="8412480" y="73152"/>
            <a:ext cx="685800" cy="384048"/>
          </a:xfrm>
          <a:prstGeom prst="rect">
            <a:avLst/>
          </a:prstGeom>
          <a:noFill/>
          <a:ln/>
        </p:spPr>
        <p:txBody>
          <a:bodyPr wrap="square" lIns="0" tIns="0" rIns="0" bIns="0" rtlCol="0" anchor="ctr"/>
          <a:lstStyle/>
          <a:p>
            <a:pPr algn="r" indent="0" marL="0">
              <a:buNone/>
            </a:pPr>
            <a:r>
              <a:rPr lang="en-US" sz="2000" b="1" dirty="0">
                <a:solidFill>
                  <a:srgbClr val="EEE8DC"/>
                </a:solidFill>
              </a:rPr>
              <a:t>06</a:t>
            </a:r>
            <a:endParaRPr lang="en-US" sz="2000" dirty="0"/>
          </a:p>
        </p:txBody>
      </p:sp>
      <p:sp>
        <p:nvSpPr>
          <p:cNvPr id="4" name="Text 2"/>
          <p:cNvSpPr/>
          <p:nvPr/>
        </p:nvSpPr>
        <p:spPr>
          <a:xfrm>
            <a:off x="457200" y="292608"/>
            <a:ext cx="8229600" cy="640080"/>
          </a:xfrm>
          <a:prstGeom prst="rect">
            <a:avLst/>
          </a:prstGeom>
          <a:noFill/>
          <a:ln/>
        </p:spPr>
        <p:txBody>
          <a:bodyPr wrap="square" rtlCol="0" anchor="ctr"/>
          <a:lstStyle/>
          <a:p>
            <a:pPr algn="ctr" indent="0" marL="0">
              <a:buNone/>
            </a:pPr>
            <a:r>
              <a:rPr lang="en-US" sz="3000" dirty="0">
                <a:solidFill>
                  <a:srgbClr val="EEE8DC"/>
                </a:solidFill>
                <a:latin typeface="Georgia" pitchFamily="34" charset="0"/>
                <a:ea typeface="Georgia" pitchFamily="34" charset="-122"/>
                <a:cs typeface="Georgia" pitchFamily="34" charset="-120"/>
              </a:rPr>
              <a:t>The Gap — and What We're Testing</a:t>
            </a:r>
            <a:endParaRPr lang="en-US" sz="3000" dirty="0"/>
          </a:p>
        </p:txBody>
      </p:sp>
      <p:sp>
        <p:nvSpPr>
          <p:cNvPr id="5" name="Shape 3"/>
          <p:cNvSpPr/>
          <p:nvPr/>
        </p:nvSpPr>
        <p:spPr>
          <a:xfrm>
            <a:off x="411480" y="1051560"/>
            <a:ext cx="8321040" cy="329184"/>
          </a:xfrm>
          <a:prstGeom prst="rect">
            <a:avLst/>
          </a:prstGeom>
          <a:solidFill>
            <a:srgbClr val="3D6B40"/>
          </a:solidFill>
          <a:ln/>
        </p:spPr>
      </p:sp>
      <p:sp>
        <p:nvSpPr>
          <p:cNvPr id="6" name="Text 4"/>
          <p:cNvSpPr/>
          <p:nvPr/>
        </p:nvSpPr>
        <p:spPr>
          <a:xfrm>
            <a:off x="502920" y="1051560"/>
            <a:ext cx="8229600" cy="329184"/>
          </a:xfrm>
          <a:prstGeom prst="rect">
            <a:avLst/>
          </a:prstGeom>
          <a:noFill/>
          <a:ln/>
        </p:spPr>
        <p:txBody>
          <a:bodyPr wrap="square" lIns="0" tIns="0" rIns="0" bIns="0" rtlCol="0" anchor="ctr"/>
          <a:lstStyle/>
          <a:p>
            <a:pPr indent="0" marL="0">
              <a:buNone/>
            </a:pPr>
            <a:r>
              <a:rPr lang="en-US" sz="1200" b="1" dirty="0">
                <a:solidFill>
                  <a:srgbClr val="FFFFFF"/>
                </a:solidFill>
              </a:rPr>
              <a:t>What all three papers are missing</a:t>
            </a:r>
            <a:endParaRPr lang="en-US" sz="1200" dirty="0"/>
          </a:p>
        </p:txBody>
      </p:sp>
      <p:sp>
        <p:nvSpPr>
          <p:cNvPr id="7" name="Shape 5"/>
          <p:cNvSpPr/>
          <p:nvPr/>
        </p:nvSpPr>
        <p:spPr>
          <a:xfrm>
            <a:off x="411480" y="1481328"/>
            <a:ext cx="384048" cy="420624"/>
          </a:xfrm>
          <a:prstGeom prst="rect">
            <a:avLst/>
          </a:prstGeom>
          <a:solidFill>
            <a:srgbClr val="4A7A4D"/>
          </a:solidFill>
          <a:ln/>
        </p:spPr>
      </p:sp>
      <p:sp>
        <p:nvSpPr>
          <p:cNvPr id="8" name="Text 6"/>
          <p:cNvSpPr/>
          <p:nvPr/>
        </p:nvSpPr>
        <p:spPr>
          <a:xfrm>
            <a:off x="411480" y="1481328"/>
            <a:ext cx="384048"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9" name="Text 7"/>
          <p:cNvSpPr/>
          <p:nvPr/>
        </p:nvSpPr>
        <p:spPr>
          <a:xfrm>
            <a:off x="886968" y="1499616"/>
            <a:ext cx="7726680" cy="402336"/>
          </a:xfrm>
          <a:prstGeom prst="rect">
            <a:avLst/>
          </a:prstGeom>
          <a:noFill/>
          <a:ln/>
        </p:spPr>
        <p:txBody>
          <a:bodyPr wrap="square" rtlCol="0" anchor="ctr"/>
          <a:lstStyle/>
          <a:p>
            <a:pPr indent="0" marL="0">
              <a:buNone/>
            </a:pPr>
            <a:r>
              <a:rPr lang="en-US" sz="1200" dirty="0">
                <a:solidFill>
                  <a:srgbClr val="EEE8DC"/>
                </a:solidFill>
              </a:rPr>
              <a:t>None of them combine part-time work WITH full lifestyle data (sleep, screen time, diet, exercise) in one model</a:t>
            </a:r>
            <a:endParaRPr lang="en-US" sz="1200" dirty="0"/>
          </a:p>
        </p:txBody>
      </p:sp>
      <p:sp>
        <p:nvSpPr>
          <p:cNvPr id="10" name="Shape 8"/>
          <p:cNvSpPr/>
          <p:nvPr/>
        </p:nvSpPr>
        <p:spPr>
          <a:xfrm>
            <a:off x="411480" y="2048256"/>
            <a:ext cx="384048" cy="420624"/>
          </a:xfrm>
          <a:prstGeom prst="rect">
            <a:avLst/>
          </a:prstGeom>
          <a:solidFill>
            <a:srgbClr val="4A7A4D"/>
          </a:solidFill>
          <a:ln/>
        </p:spPr>
      </p:sp>
      <p:sp>
        <p:nvSpPr>
          <p:cNvPr id="11" name="Text 9"/>
          <p:cNvSpPr/>
          <p:nvPr/>
        </p:nvSpPr>
        <p:spPr>
          <a:xfrm>
            <a:off x="411480" y="2048256"/>
            <a:ext cx="384048"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Text 10"/>
          <p:cNvSpPr/>
          <p:nvPr/>
        </p:nvSpPr>
        <p:spPr>
          <a:xfrm>
            <a:off x="886968" y="2066544"/>
            <a:ext cx="7726680" cy="402336"/>
          </a:xfrm>
          <a:prstGeom prst="rect">
            <a:avLst/>
          </a:prstGeom>
          <a:noFill/>
          <a:ln/>
        </p:spPr>
        <p:txBody>
          <a:bodyPr wrap="square" rtlCol="0" anchor="ctr"/>
          <a:lstStyle/>
          <a:p>
            <a:pPr indent="0" marL="0">
              <a:buNone/>
            </a:pPr>
            <a:r>
              <a:rPr lang="en-US" sz="1200" dirty="0">
                <a:solidFill>
                  <a:srgbClr val="EEE8DC"/>
                </a:solidFill>
              </a:rPr>
              <a:t>None of them used machine learning that can handle imbalanced data — most datasets have fewer failing students</a:t>
            </a:r>
            <a:endParaRPr lang="en-US" sz="1200" dirty="0"/>
          </a:p>
        </p:txBody>
      </p:sp>
      <p:sp>
        <p:nvSpPr>
          <p:cNvPr id="13" name="Shape 11"/>
          <p:cNvSpPr/>
          <p:nvPr/>
        </p:nvSpPr>
        <p:spPr>
          <a:xfrm>
            <a:off x="411480" y="2615184"/>
            <a:ext cx="384048" cy="420624"/>
          </a:xfrm>
          <a:prstGeom prst="rect">
            <a:avLst/>
          </a:prstGeom>
          <a:solidFill>
            <a:srgbClr val="4A7A4D"/>
          </a:solidFill>
          <a:ln/>
        </p:spPr>
      </p:sp>
      <p:sp>
        <p:nvSpPr>
          <p:cNvPr id="14" name="Text 12"/>
          <p:cNvSpPr/>
          <p:nvPr/>
        </p:nvSpPr>
        <p:spPr>
          <a:xfrm>
            <a:off x="411480" y="2615184"/>
            <a:ext cx="384048"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5" name="Text 13"/>
          <p:cNvSpPr/>
          <p:nvPr/>
        </p:nvSpPr>
        <p:spPr>
          <a:xfrm>
            <a:off x="886968" y="2633472"/>
            <a:ext cx="7726680" cy="402336"/>
          </a:xfrm>
          <a:prstGeom prst="rect">
            <a:avLst/>
          </a:prstGeom>
          <a:noFill/>
          <a:ln/>
        </p:spPr>
        <p:txBody>
          <a:bodyPr wrap="square" rtlCol="0" anchor="ctr"/>
          <a:lstStyle/>
          <a:p>
            <a:pPr indent="0" marL="0">
              <a:buNone/>
            </a:pPr>
            <a:r>
              <a:rPr lang="en-US" sz="1200" dirty="0">
                <a:solidFill>
                  <a:srgbClr val="EEE8DC"/>
                </a:solidFill>
              </a:rPr>
              <a:t>None of them explain their predictions — educators are left with a score but no reason behind it</a:t>
            </a:r>
            <a:endParaRPr lang="en-US" sz="1200" dirty="0"/>
          </a:p>
        </p:txBody>
      </p:sp>
      <p:sp>
        <p:nvSpPr>
          <p:cNvPr id="16" name="Shape 14"/>
          <p:cNvSpPr/>
          <p:nvPr/>
        </p:nvSpPr>
        <p:spPr>
          <a:xfrm>
            <a:off x="411480" y="3310128"/>
            <a:ext cx="8321040" cy="329184"/>
          </a:xfrm>
          <a:prstGeom prst="rect">
            <a:avLst/>
          </a:prstGeom>
          <a:solidFill>
            <a:srgbClr val="3D6B40"/>
          </a:solidFill>
          <a:ln/>
        </p:spPr>
      </p:sp>
      <p:sp>
        <p:nvSpPr>
          <p:cNvPr id="17" name="Text 15"/>
          <p:cNvSpPr/>
          <p:nvPr/>
        </p:nvSpPr>
        <p:spPr>
          <a:xfrm>
            <a:off x="502920" y="3310128"/>
            <a:ext cx="8229600" cy="329184"/>
          </a:xfrm>
          <a:prstGeom prst="rect">
            <a:avLst/>
          </a:prstGeom>
          <a:noFill/>
          <a:ln/>
        </p:spPr>
        <p:txBody>
          <a:bodyPr wrap="square" lIns="0" tIns="0" rIns="0" bIns="0" rtlCol="0" anchor="ctr"/>
          <a:lstStyle/>
          <a:p>
            <a:pPr indent="0" marL="0">
              <a:buNone/>
            </a:pPr>
            <a:r>
              <a:rPr lang="en-US" sz="1200" b="1" dirty="0">
                <a:solidFill>
                  <a:srgbClr val="FFFFFF"/>
                </a:solidFill>
              </a:rPr>
              <a:t>Our Hypothesis</a:t>
            </a:r>
            <a:endParaRPr lang="en-US" sz="1200" dirty="0"/>
          </a:p>
        </p:txBody>
      </p:sp>
      <p:sp>
        <p:nvSpPr>
          <p:cNvPr id="18" name="Shape 16"/>
          <p:cNvSpPr/>
          <p:nvPr/>
        </p:nvSpPr>
        <p:spPr>
          <a:xfrm>
            <a:off x="411480" y="3639312"/>
            <a:ext cx="8321040" cy="1170432"/>
          </a:xfrm>
          <a:prstGeom prst="rect">
            <a:avLst/>
          </a:prstGeom>
          <a:solidFill>
            <a:srgbClr val="1E3320"/>
          </a:solidFill>
          <a:ln/>
        </p:spPr>
      </p:sp>
      <p:sp>
        <p:nvSpPr>
          <p:cNvPr id="19" name="Text 17"/>
          <p:cNvSpPr/>
          <p:nvPr/>
        </p:nvSpPr>
        <p:spPr>
          <a:xfrm>
            <a:off x="548640" y="3703320"/>
            <a:ext cx="8046720" cy="1024128"/>
          </a:xfrm>
          <a:prstGeom prst="rect">
            <a:avLst/>
          </a:prstGeom>
          <a:noFill/>
          <a:ln/>
        </p:spPr>
        <p:txBody>
          <a:bodyPr wrap="square" rtlCol="0" anchor="ctr"/>
          <a:lstStyle/>
          <a:p>
            <a:pPr indent="0" marL="0">
              <a:lnSpc>
                <a:spcPct val="142000"/>
              </a:lnSpc>
              <a:buNone/>
            </a:pPr>
            <a:r>
              <a:rPr lang="en-US" sz="1200" i="1" dirty="0">
                <a:solidFill>
                  <a:srgbClr val="EEE8DC"/>
                </a:solidFill>
              </a:rPr>
              <a:t>We believe that a machine learning model trained on lifestyle and employment data — using XGBoost and LightGBM, with SMOTE to fix class imbalance and SHAP to explain predictions — will reveal how part-time work shapes student academic engagement and financial well-being, in ways that grades alone cannot show.</a:t>
            </a:r>
            <a:endParaRPr lang="en-US" sz="1200" dirty="0"/>
          </a:p>
        </p:txBody>
      </p:sp>
      <p:sp>
        <p:nvSpPr>
          <p:cNvPr id="20" name="Shape 18"/>
          <p:cNvSpPr/>
          <p:nvPr/>
        </p:nvSpPr>
        <p:spPr>
          <a:xfrm>
            <a:off x="0" y="4873752"/>
            <a:ext cx="1280160" cy="274320"/>
          </a:xfrm>
          <a:prstGeom prst="rect">
            <a:avLst/>
          </a:prstGeom>
          <a:solidFill>
            <a:srgbClr val="3D6B40"/>
          </a:solidFill>
          <a:ln/>
        </p:spPr>
      </p:sp>
      <p:sp>
        <p:nvSpPr>
          <p:cNvPr id="21" name="Shape 19"/>
          <p:cNvSpPr/>
          <p:nvPr/>
        </p:nvSpPr>
        <p:spPr>
          <a:xfrm>
            <a:off x="1371600" y="4873752"/>
            <a:ext cx="7772400" cy="274320"/>
          </a:xfrm>
          <a:prstGeom prst="rect">
            <a:avLst/>
          </a:prstGeom>
          <a:solidFill>
            <a:srgbClr val="4A7A4D"/>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0" y="0"/>
            <a:ext cx="2286000" cy="329184"/>
          </a:xfrm>
          <a:prstGeom prst="rect">
            <a:avLst/>
          </a:prstGeom>
          <a:solidFill>
            <a:srgbClr val="2C4A2E"/>
          </a:solidFill>
          <a:ln/>
        </p:spPr>
      </p:sp>
      <p:sp>
        <p:nvSpPr>
          <p:cNvPr id="3" name="Text 1"/>
          <p:cNvSpPr/>
          <p:nvPr/>
        </p:nvSpPr>
        <p:spPr>
          <a:xfrm>
            <a:off x="109728" y="36576"/>
            <a:ext cx="2103120" cy="256032"/>
          </a:xfrm>
          <a:prstGeom prst="rect">
            <a:avLst/>
          </a:prstGeom>
          <a:noFill/>
          <a:ln/>
        </p:spPr>
        <p:txBody>
          <a:bodyPr wrap="square" lIns="0" tIns="0" rIns="0" bIns="0" rtlCol="0" anchor="ctr"/>
          <a:lstStyle/>
          <a:p>
            <a:pPr indent="0" marL="0">
              <a:buNone/>
            </a:pPr>
            <a:r>
              <a:rPr lang="en-US" sz="900" dirty="0">
                <a:solidFill>
                  <a:srgbClr val="FFFFFF"/>
                </a:solidFill>
              </a:rPr>
              <a:t>DS340W | Spring 2026</a:t>
            </a:r>
            <a:endParaRPr lang="en-US" sz="900" dirty="0"/>
          </a:p>
        </p:txBody>
      </p:sp>
      <p:sp>
        <p:nvSpPr>
          <p:cNvPr id="4" name="Shape 2"/>
          <p:cNvSpPr/>
          <p:nvPr/>
        </p:nvSpPr>
        <p:spPr>
          <a:xfrm>
            <a:off x="0" y="4873752"/>
            <a:ext cx="1280160" cy="274320"/>
          </a:xfrm>
          <a:prstGeom prst="rect">
            <a:avLst/>
          </a:prstGeom>
          <a:solidFill>
            <a:srgbClr val="2C4A2E"/>
          </a:solidFill>
          <a:ln/>
        </p:spPr>
      </p:sp>
      <p:sp>
        <p:nvSpPr>
          <p:cNvPr id="5" name="Shape 3"/>
          <p:cNvSpPr/>
          <p:nvPr/>
        </p:nvSpPr>
        <p:spPr>
          <a:xfrm>
            <a:off x="1371600" y="4873752"/>
            <a:ext cx="7772400" cy="274320"/>
          </a:xfrm>
          <a:prstGeom prst="rect">
            <a:avLst/>
          </a:prstGeom>
          <a:solidFill>
            <a:srgbClr val="3D6B40"/>
          </a:solidFill>
          <a:ln/>
        </p:spPr>
      </p:sp>
      <p:sp>
        <p:nvSpPr>
          <p:cNvPr id="6" name="Text 4"/>
          <p:cNvSpPr/>
          <p:nvPr/>
        </p:nvSpPr>
        <p:spPr>
          <a:xfrm>
            <a:off x="8412480" y="73152"/>
            <a:ext cx="685800" cy="384048"/>
          </a:xfrm>
          <a:prstGeom prst="rect">
            <a:avLst/>
          </a:prstGeom>
          <a:noFill/>
          <a:ln/>
        </p:spPr>
        <p:txBody>
          <a:bodyPr wrap="square" lIns="0" tIns="0" rIns="0" bIns="0" rtlCol="0" anchor="ctr"/>
          <a:lstStyle/>
          <a:p>
            <a:pPr algn="r" indent="0" marL="0">
              <a:buNone/>
            </a:pPr>
            <a:r>
              <a:rPr lang="en-US" sz="2000" b="1" dirty="0">
                <a:solidFill>
                  <a:srgbClr val="2C4A2E"/>
                </a:solidFill>
              </a:rPr>
              <a:t>07</a:t>
            </a:r>
            <a:endParaRPr lang="en-US" sz="2000" dirty="0"/>
          </a:p>
        </p:txBody>
      </p:sp>
      <p:sp>
        <p:nvSpPr>
          <p:cNvPr id="7" name="Text 5"/>
          <p:cNvSpPr/>
          <p:nvPr/>
        </p:nvSpPr>
        <p:spPr>
          <a:xfrm>
            <a:off x="411480" y="384048"/>
            <a:ext cx="4069080" cy="347472"/>
          </a:xfrm>
          <a:prstGeom prst="rect">
            <a:avLst/>
          </a:prstGeom>
          <a:noFill/>
          <a:ln/>
        </p:spPr>
        <p:txBody>
          <a:bodyPr wrap="square" rtlCol="0" anchor="ctr"/>
          <a:lstStyle/>
          <a:p>
            <a:pPr algn="ctr" indent="0" marL="0">
              <a:buNone/>
            </a:pPr>
            <a:r>
              <a:rPr lang="en-US" sz="1800" dirty="0">
                <a:solidFill>
                  <a:srgbClr val="2C4A2E"/>
                </a:solidFill>
                <a:latin typeface="Georgia" pitchFamily="34" charset="0"/>
                <a:ea typeface="Georgia" pitchFamily="34" charset="-122"/>
                <a:cs typeface="Georgia" pitchFamily="34" charset="-120"/>
              </a:rPr>
              <a:t>Our Dataset</a:t>
            </a:r>
            <a:endParaRPr lang="en-US" sz="1800" dirty="0"/>
          </a:p>
        </p:txBody>
      </p:sp>
      <p:sp>
        <p:nvSpPr>
          <p:cNvPr id="8" name="Text 6"/>
          <p:cNvSpPr/>
          <p:nvPr/>
        </p:nvSpPr>
        <p:spPr>
          <a:xfrm>
            <a:off x="4617720" y="384048"/>
            <a:ext cx="4069080" cy="347472"/>
          </a:xfrm>
          <a:prstGeom prst="rect">
            <a:avLst/>
          </a:prstGeom>
          <a:noFill/>
          <a:ln/>
        </p:spPr>
        <p:txBody>
          <a:bodyPr wrap="square" rtlCol="0" anchor="ctr"/>
          <a:lstStyle/>
          <a:p>
            <a:pPr algn="ctr" indent="0" marL="0">
              <a:buNone/>
            </a:pPr>
            <a:r>
              <a:rPr lang="en-US" sz="1800" dirty="0">
                <a:solidFill>
                  <a:srgbClr val="2C4A2E"/>
                </a:solidFill>
                <a:latin typeface="Georgia" pitchFamily="34" charset="0"/>
                <a:ea typeface="Georgia" pitchFamily="34" charset="-122"/>
                <a:cs typeface="Georgia" pitchFamily="34" charset="-120"/>
              </a:rPr>
              <a:t>Our Pipeline</a:t>
            </a:r>
            <a:endParaRPr lang="en-US" sz="1800" dirty="0"/>
          </a:p>
        </p:txBody>
      </p:sp>
      <p:sp>
        <p:nvSpPr>
          <p:cNvPr id="9" name="Shape 7"/>
          <p:cNvSpPr/>
          <p:nvPr/>
        </p:nvSpPr>
        <p:spPr>
          <a:xfrm>
            <a:off x="411480" y="804672"/>
            <a:ext cx="4069080" cy="4041648"/>
          </a:xfrm>
          <a:prstGeom prst="rect">
            <a:avLst/>
          </a:prstGeom>
          <a:solidFill>
            <a:srgbClr val="2C4A2E"/>
          </a:solidFill>
          <a:ln/>
          <a:effectLst>
            <a:outerShdw sx="100000" sy="100000" kx="0" ky="0" algn="bl" rotWithShape="0" blurRad="63500" dist="25400" dir="8100000">
              <a:srgbClr val="000000">
                <a:alpha val="10000"/>
              </a:srgbClr>
            </a:outerShdw>
          </a:effectLst>
        </p:spPr>
      </p:sp>
      <p:sp>
        <p:nvSpPr>
          <p:cNvPr id="10" name="Text 8"/>
          <p:cNvSpPr/>
          <p:nvPr/>
        </p:nvSpPr>
        <p:spPr>
          <a:xfrm>
            <a:off x="548640" y="877824"/>
            <a:ext cx="3749040" cy="274320"/>
          </a:xfrm>
          <a:prstGeom prst="rect">
            <a:avLst/>
          </a:prstGeom>
          <a:noFill/>
          <a:ln/>
        </p:spPr>
        <p:txBody>
          <a:bodyPr wrap="square" lIns="0" tIns="0" rIns="0" bIns="0" rtlCol="0" anchor="ctr"/>
          <a:lstStyle/>
          <a:p>
            <a:pPr indent="0" marL="0">
              <a:buNone/>
            </a:pPr>
            <a:r>
              <a:rPr lang="en-US" sz="1200" b="1" dirty="0">
                <a:solidFill>
                  <a:srgbClr val="FFFFFF"/>
                </a:solidFill>
              </a:rPr>
              <a:t>The Dataset</a:t>
            </a:r>
            <a:endParaRPr lang="en-US" sz="1200" dirty="0"/>
          </a:p>
        </p:txBody>
      </p:sp>
      <p:sp>
        <p:nvSpPr>
          <p:cNvPr id="11" name="Text 9"/>
          <p:cNvSpPr/>
          <p:nvPr/>
        </p:nvSpPr>
        <p:spPr>
          <a:xfrm>
            <a:off x="548640" y="1225296"/>
            <a:ext cx="3794760" cy="658368"/>
          </a:xfrm>
          <a:prstGeom prst="rect">
            <a:avLst/>
          </a:prstGeom>
          <a:noFill/>
          <a:ln/>
        </p:spPr>
        <p:txBody>
          <a:bodyPr wrap="square" rtlCol="0" anchor="ctr"/>
          <a:lstStyle/>
          <a:p>
            <a:pPr indent="0" marL="0">
              <a:lnSpc>
                <a:spcPct val="120000"/>
              </a:lnSpc>
              <a:buNone/>
            </a:pPr>
            <a:r>
              <a:rPr lang="en-US" sz="1100" b="1" dirty="0">
                <a:solidFill>
                  <a:srgbClr val="EEE8DC"/>
                </a:solidFill>
              </a:rPr>
              <a:t>1,000 students</a:t>
            </a:r>
            <a:endParaRPr lang="en-US" sz="1100" dirty="0"/>
          </a:p>
          <a:p>
            <a:pPr indent="0" marL="0">
              <a:lnSpc>
                <a:spcPct val="120000"/>
              </a:lnSpc>
              <a:buNone/>
            </a:pPr>
            <a:r>
              <a:rPr lang="en-US" sz="1050" dirty="0">
                <a:solidFill>
                  <a:srgbClr val="C8DCC8"/>
                </a:solidFill>
              </a:rPr>
              <a:t>A diverse mix of ages, genders, and backgrounds</a:t>
            </a:r>
            <a:endParaRPr lang="en-US" sz="1100" dirty="0"/>
          </a:p>
        </p:txBody>
      </p:sp>
      <p:sp>
        <p:nvSpPr>
          <p:cNvPr id="12" name="Text 10"/>
          <p:cNvSpPr/>
          <p:nvPr/>
        </p:nvSpPr>
        <p:spPr>
          <a:xfrm>
            <a:off x="548640" y="1947672"/>
            <a:ext cx="3794760" cy="658368"/>
          </a:xfrm>
          <a:prstGeom prst="rect">
            <a:avLst/>
          </a:prstGeom>
          <a:noFill/>
          <a:ln/>
        </p:spPr>
        <p:txBody>
          <a:bodyPr wrap="square" rtlCol="0" anchor="ctr"/>
          <a:lstStyle/>
          <a:p>
            <a:pPr indent="0" marL="0">
              <a:lnSpc>
                <a:spcPct val="120000"/>
              </a:lnSpc>
              <a:buNone/>
            </a:pPr>
            <a:r>
              <a:rPr lang="en-US" sz="1100" b="1" dirty="0">
                <a:solidFill>
                  <a:srgbClr val="EEE8DC"/>
                </a:solidFill>
              </a:rPr>
              <a:t>16 variables</a:t>
            </a:r>
            <a:endParaRPr lang="en-US" sz="1100" dirty="0"/>
          </a:p>
          <a:p>
            <a:pPr indent="0" marL="0">
              <a:lnSpc>
                <a:spcPct val="120000"/>
              </a:lnSpc>
              <a:buNone/>
            </a:pPr>
            <a:r>
              <a:rPr lang="en-US" sz="1050" dirty="0">
                <a:solidFill>
                  <a:srgbClr val="C8DCC8"/>
                </a:solidFill>
              </a:rPr>
              <a:t>Study habits, sleep, diet, screen time, exercise, attendance, mental health, parental education, internet quality</a:t>
            </a:r>
            <a:endParaRPr lang="en-US" sz="1100" dirty="0"/>
          </a:p>
        </p:txBody>
      </p:sp>
      <p:sp>
        <p:nvSpPr>
          <p:cNvPr id="13" name="Text 11"/>
          <p:cNvSpPr/>
          <p:nvPr/>
        </p:nvSpPr>
        <p:spPr>
          <a:xfrm>
            <a:off x="548640" y="2670048"/>
            <a:ext cx="3794760" cy="658368"/>
          </a:xfrm>
          <a:prstGeom prst="rect">
            <a:avLst/>
          </a:prstGeom>
          <a:noFill/>
          <a:ln/>
        </p:spPr>
        <p:txBody>
          <a:bodyPr wrap="square" rtlCol="0" anchor="ctr"/>
          <a:lstStyle/>
          <a:p>
            <a:pPr indent="0" marL="0">
              <a:lnSpc>
                <a:spcPct val="120000"/>
              </a:lnSpc>
              <a:buNone/>
            </a:pPr>
            <a:r>
              <a:rPr lang="en-US" sz="1100" b="1" dirty="0">
                <a:solidFill>
                  <a:srgbClr val="EEE8DC"/>
                </a:solidFill>
              </a:rPr>
              <a:t>Part-time job</a:t>
            </a:r>
            <a:endParaRPr lang="en-US" sz="1100" dirty="0"/>
          </a:p>
          <a:p>
            <a:pPr indent="0" marL="0">
              <a:lnSpc>
                <a:spcPct val="120000"/>
              </a:lnSpc>
              <a:buNone/>
            </a:pPr>
            <a:r>
              <a:rPr lang="en-US" sz="1050" dirty="0">
                <a:solidFill>
                  <a:srgbClr val="C8DCC8"/>
                </a:solidFill>
              </a:rPr>
              <a:t>Yes or No — 215 students work, 785 don't</a:t>
            </a:r>
            <a:endParaRPr lang="en-US" sz="1100" dirty="0"/>
          </a:p>
        </p:txBody>
      </p:sp>
      <p:sp>
        <p:nvSpPr>
          <p:cNvPr id="14" name="Text 12"/>
          <p:cNvSpPr/>
          <p:nvPr/>
        </p:nvSpPr>
        <p:spPr>
          <a:xfrm>
            <a:off x="548640" y="3392424"/>
            <a:ext cx="3794760" cy="658368"/>
          </a:xfrm>
          <a:prstGeom prst="rect">
            <a:avLst/>
          </a:prstGeom>
          <a:noFill/>
          <a:ln/>
        </p:spPr>
        <p:txBody>
          <a:bodyPr wrap="square" rtlCol="0" anchor="ctr"/>
          <a:lstStyle/>
          <a:p>
            <a:pPr indent="0" marL="0">
              <a:lnSpc>
                <a:spcPct val="120000"/>
              </a:lnSpc>
              <a:buNone/>
            </a:pPr>
            <a:r>
              <a:rPr lang="en-US" sz="1100" b="1" dirty="0">
                <a:solidFill>
                  <a:srgbClr val="EEE8DC"/>
                </a:solidFill>
              </a:rPr>
              <a:t>Target variable</a:t>
            </a:r>
            <a:endParaRPr lang="en-US" sz="1100" dirty="0"/>
          </a:p>
          <a:p>
            <a:pPr indent="0" marL="0">
              <a:lnSpc>
                <a:spcPct val="120000"/>
              </a:lnSpc>
              <a:buNone/>
            </a:pPr>
            <a:r>
              <a:rPr lang="en-US" sz="1050" dirty="0">
                <a:solidFill>
                  <a:srgbClr val="C8DCC8"/>
                </a:solidFill>
              </a:rPr>
              <a:t>exam_score (18–100, avg 69.6) — bucketed into A, B, C, D, or F</a:t>
            </a:r>
            <a:endParaRPr lang="en-US" sz="1100" dirty="0"/>
          </a:p>
        </p:txBody>
      </p:sp>
      <p:sp>
        <p:nvSpPr>
          <p:cNvPr id="15" name="Text 13"/>
          <p:cNvSpPr/>
          <p:nvPr/>
        </p:nvSpPr>
        <p:spPr>
          <a:xfrm>
            <a:off x="548640" y="4114800"/>
            <a:ext cx="3794760" cy="658368"/>
          </a:xfrm>
          <a:prstGeom prst="rect">
            <a:avLst/>
          </a:prstGeom>
          <a:noFill/>
          <a:ln/>
        </p:spPr>
        <p:txBody>
          <a:bodyPr wrap="square" rtlCol="0" anchor="ctr"/>
          <a:lstStyle/>
          <a:p>
            <a:pPr indent="0" marL="0">
              <a:lnSpc>
                <a:spcPct val="120000"/>
              </a:lnSpc>
              <a:buNone/>
            </a:pPr>
            <a:r>
              <a:rPr lang="en-US" sz="1100" b="1" dirty="0">
                <a:solidFill>
                  <a:srgbClr val="EEE8DC"/>
                </a:solidFill>
              </a:rPr>
              <a:t>Missing data</a:t>
            </a:r>
            <a:endParaRPr lang="en-US" sz="1100" dirty="0"/>
          </a:p>
          <a:p>
            <a:pPr indent="0" marL="0">
              <a:lnSpc>
                <a:spcPct val="120000"/>
              </a:lnSpc>
              <a:buNone/>
            </a:pPr>
            <a:r>
              <a:rPr lang="en-US" sz="1050" dirty="0">
                <a:solidFill>
                  <a:srgbClr val="C8DCC8"/>
                </a:solidFill>
              </a:rPr>
              <a:t>91 missing values in parental education — filled in automatically</a:t>
            </a:r>
            <a:endParaRPr lang="en-US" sz="1100" dirty="0"/>
          </a:p>
        </p:txBody>
      </p:sp>
      <p:sp>
        <p:nvSpPr>
          <p:cNvPr id="16" name="Shape 14"/>
          <p:cNvSpPr/>
          <p:nvPr/>
        </p:nvSpPr>
        <p:spPr>
          <a:xfrm>
            <a:off x="4617720" y="804672"/>
            <a:ext cx="4069080" cy="4041648"/>
          </a:xfrm>
          <a:prstGeom prst="rect">
            <a:avLst/>
          </a:prstGeom>
          <a:solidFill>
            <a:srgbClr val="EEE8DC"/>
          </a:solidFill>
          <a:ln/>
          <a:effectLst>
            <a:outerShdw sx="100000" sy="100000" kx="0" ky="0" algn="bl" rotWithShape="0" blurRad="63500" dist="25400" dir="8100000">
              <a:srgbClr val="000000">
                <a:alpha val="10000"/>
              </a:srgbClr>
            </a:outerShdw>
          </a:effectLst>
        </p:spPr>
      </p:sp>
      <p:sp>
        <p:nvSpPr>
          <p:cNvPr id="17" name="Text 15"/>
          <p:cNvSpPr/>
          <p:nvPr/>
        </p:nvSpPr>
        <p:spPr>
          <a:xfrm>
            <a:off x="4736592" y="877824"/>
            <a:ext cx="3840480" cy="274320"/>
          </a:xfrm>
          <a:prstGeom prst="rect">
            <a:avLst/>
          </a:prstGeom>
          <a:noFill/>
          <a:ln/>
        </p:spPr>
        <p:txBody>
          <a:bodyPr wrap="square" lIns="0" tIns="0" rIns="0" bIns="0" rtlCol="0" anchor="ctr"/>
          <a:lstStyle/>
          <a:p>
            <a:pPr indent="0" marL="0">
              <a:buNone/>
            </a:pPr>
            <a:r>
              <a:rPr lang="en-US" sz="1200" b="1" dirty="0">
                <a:solidFill>
                  <a:srgbClr val="2C4A2E"/>
                </a:solidFill>
              </a:rPr>
              <a:t>Step by Step</a:t>
            </a:r>
            <a:endParaRPr lang="en-US" sz="1200" dirty="0"/>
          </a:p>
        </p:txBody>
      </p:sp>
      <p:sp>
        <p:nvSpPr>
          <p:cNvPr id="18" name="Shape 16"/>
          <p:cNvSpPr/>
          <p:nvPr/>
        </p:nvSpPr>
        <p:spPr>
          <a:xfrm>
            <a:off x="4617720" y="1225296"/>
            <a:ext cx="347472" cy="512064"/>
          </a:xfrm>
          <a:prstGeom prst="rect">
            <a:avLst/>
          </a:prstGeom>
          <a:solidFill>
            <a:srgbClr val="2C4A2E"/>
          </a:solidFill>
          <a:ln/>
        </p:spPr>
      </p:sp>
      <p:sp>
        <p:nvSpPr>
          <p:cNvPr id="19" name="Text 17"/>
          <p:cNvSpPr/>
          <p:nvPr/>
        </p:nvSpPr>
        <p:spPr>
          <a:xfrm>
            <a:off x="4617720" y="1225296"/>
            <a:ext cx="347472" cy="512064"/>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20" name="Text 18"/>
          <p:cNvSpPr/>
          <p:nvPr/>
        </p:nvSpPr>
        <p:spPr>
          <a:xfrm>
            <a:off x="5029200" y="1261872"/>
            <a:ext cx="3547872" cy="512064"/>
          </a:xfrm>
          <a:prstGeom prst="rect">
            <a:avLst/>
          </a:prstGeom>
          <a:noFill/>
          <a:ln/>
        </p:spPr>
        <p:txBody>
          <a:bodyPr wrap="square" rtlCol="0" anchor="ctr"/>
          <a:lstStyle/>
          <a:p>
            <a:pPr indent="0" marL="0">
              <a:lnSpc>
                <a:spcPct val="118000"/>
              </a:lnSpc>
              <a:buNone/>
            </a:pPr>
            <a:r>
              <a:rPr lang="en-US" sz="1100" b="1" dirty="0">
                <a:solidFill>
                  <a:srgbClr val="2C4A2E"/>
                </a:solidFill>
              </a:rPr>
              <a:t>Clean the data: </a:t>
            </a:r>
            <a:pPr indent="0" marL="0">
              <a:lnSpc>
                <a:spcPct val="118000"/>
              </a:lnSpc>
              <a:buNone/>
            </a:pPr>
            <a:r>
              <a:rPr lang="en-US" sz="1050" dirty="0">
                <a:solidFill>
                  <a:srgbClr val="6B7280"/>
                </a:solidFill>
              </a:rPr>
              <a:t>Fill missing values; turn text categories into numbers</a:t>
            </a:r>
            <a:endParaRPr lang="en-US" sz="1050" dirty="0"/>
          </a:p>
        </p:txBody>
      </p:sp>
      <p:sp>
        <p:nvSpPr>
          <p:cNvPr id="21" name="Shape 19"/>
          <p:cNvSpPr/>
          <p:nvPr/>
        </p:nvSpPr>
        <p:spPr>
          <a:xfrm>
            <a:off x="4617720" y="1792224"/>
            <a:ext cx="347472" cy="512064"/>
          </a:xfrm>
          <a:prstGeom prst="rect">
            <a:avLst/>
          </a:prstGeom>
          <a:solidFill>
            <a:srgbClr val="2C4A2E"/>
          </a:solidFill>
          <a:ln/>
        </p:spPr>
      </p:sp>
      <p:sp>
        <p:nvSpPr>
          <p:cNvPr id="22" name="Text 20"/>
          <p:cNvSpPr/>
          <p:nvPr/>
        </p:nvSpPr>
        <p:spPr>
          <a:xfrm>
            <a:off x="4617720" y="1792224"/>
            <a:ext cx="347472" cy="512064"/>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23" name="Text 21"/>
          <p:cNvSpPr/>
          <p:nvPr/>
        </p:nvSpPr>
        <p:spPr>
          <a:xfrm>
            <a:off x="5029200" y="1828800"/>
            <a:ext cx="3547872" cy="512064"/>
          </a:xfrm>
          <a:prstGeom prst="rect">
            <a:avLst/>
          </a:prstGeom>
          <a:noFill/>
          <a:ln/>
        </p:spPr>
        <p:txBody>
          <a:bodyPr wrap="square" rtlCol="0" anchor="ctr"/>
          <a:lstStyle/>
          <a:p>
            <a:pPr indent="0" marL="0">
              <a:lnSpc>
                <a:spcPct val="118000"/>
              </a:lnSpc>
              <a:buNone/>
            </a:pPr>
            <a:r>
              <a:rPr lang="en-US" sz="1100" b="1" dirty="0">
                <a:solidFill>
                  <a:srgbClr val="2C4A2E"/>
                </a:solidFill>
              </a:rPr>
              <a:t>Engineer features: </a:t>
            </a:r>
            <a:pPr indent="0" marL="0">
              <a:lnSpc>
                <a:spcPct val="118000"/>
              </a:lnSpc>
              <a:buNone/>
            </a:pPr>
            <a:r>
              <a:rPr lang="en-US" sz="1050" dirty="0">
                <a:solidFill>
                  <a:srgbClr val="6B7280"/>
                </a:solidFill>
              </a:rPr>
              <a:t>Create 5 new calculated columns (see next slide)</a:t>
            </a:r>
            <a:endParaRPr lang="en-US" sz="1050" dirty="0"/>
          </a:p>
        </p:txBody>
      </p:sp>
      <p:sp>
        <p:nvSpPr>
          <p:cNvPr id="24" name="Shape 22"/>
          <p:cNvSpPr/>
          <p:nvPr/>
        </p:nvSpPr>
        <p:spPr>
          <a:xfrm>
            <a:off x="4617720" y="2359152"/>
            <a:ext cx="347472" cy="512064"/>
          </a:xfrm>
          <a:prstGeom prst="rect">
            <a:avLst/>
          </a:prstGeom>
          <a:solidFill>
            <a:srgbClr val="2C4A2E"/>
          </a:solidFill>
          <a:ln/>
        </p:spPr>
      </p:sp>
      <p:sp>
        <p:nvSpPr>
          <p:cNvPr id="25" name="Text 23"/>
          <p:cNvSpPr/>
          <p:nvPr/>
        </p:nvSpPr>
        <p:spPr>
          <a:xfrm>
            <a:off x="4617720" y="2359152"/>
            <a:ext cx="347472" cy="512064"/>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26" name="Text 24"/>
          <p:cNvSpPr/>
          <p:nvPr/>
        </p:nvSpPr>
        <p:spPr>
          <a:xfrm>
            <a:off x="5029200" y="2395728"/>
            <a:ext cx="3547872" cy="512064"/>
          </a:xfrm>
          <a:prstGeom prst="rect">
            <a:avLst/>
          </a:prstGeom>
          <a:noFill/>
          <a:ln/>
        </p:spPr>
        <p:txBody>
          <a:bodyPr wrap="square" rtlCol="0" anchor="ctr"/>
          <a:lstStyle/>
          <a:p>
            <a:pPr indent="0" marL="0">
              <a:lnSpc>
                <a:spcPct val="118000"/>
              </a:lnSpc>
              <a:buNone/>
            </a:pPr>
            <a:r>
              <a:rPr lang="en-US" sz="1100" b="1" dirty="0">
                <a:solidFill>
                  <a:srgbClr val="2C4A2E"/>
                </a:solidFill>
              </a:rPr>
              <a:t>Apply SMOTE: </a:t>
            </a:r>
            <a:pPr indent="0" marL="0">
              <a:lnSpc>
                <a:spcPct val="118000"/>
              </a:lnSpc>
              <a:buNone/>
            </a:pPr>
            <a:r>
              <a:rPr lang="en-US" sz="1050" dirty="0">
                <a:solidFill>
                  <a:srgbClr val="6B7280"/>
                </a:solidFill>
              </a:rPr>
              <a:t>Creates synthetic examples of rare outcomes so the model doesn't ignore failing students</a:t>
            </a:r>
            <a:endParaRPr lang="en-US" sz="1050" dirty="0"/>
          </a:p>
        </p:txBody>
      </p:sp>
      <p:sp>
        <p:nvSpPr>
          <p:cNvPr id="27" name="Shape 25"/>
          <p:cNvSpPr/>
          <p:nvPr/>
        </p:nvSpPr>
        <p:spPr>
          <a:xfrm>
            <a:off x="4617720" y="2926080"/>
            <a:ext cx="347472" cy="512064"/>
          </a:xfrm>
          <a:prstGeom prst="rect">
            <a:avLst/>
          </a:prstGeom>
          <a:solidFill>
            <a:srgbClr val="2C4A2E"/>
          </a:solidFill>
          <a:ln/>
        </p:spPr>
      </p:sp>
      <p:sp>
        <p:nvSpPr>
          <p:cNvPr id="28" name="Text 26"/>
          <p:cNvSpPr/>
          <p:nvPr/>
        </p:nvSpPr>
        <p:spPr>
          <a:xfrm>
            <a:off x="4617720" y="2926080"/>
            <a:ext cx="347472" cy="512064"/>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9" name="Text 27"/>
          <p:cNvSpPr/>
          <p:nvPr/>
        </p:nvSpPr>
        <p:spPr>
          <a:xfrm>
            <a:off x="5029200" y="2962656"/>
            <a:ext cx="3547872" cy="512064"/>
          </a:xfrm>
          <a:prstGeom prst="rect">
            <a:avLst/>
          </a:prstGeom>
          <a:noFill/>
          <a:ln/>
        </p:spPr>
        <p:txBody>
          <a:bodyPr wrap="square" rtlCol="0" anchor="ctr"/>
          <a:lstStyle/>
          <a:p>
            <a:pPr indent="0" marL="0">
              <a:lnSpc>
                <a:spcPct val="118000"/>
              </a:lnSpc>
              <a:buNone/>
            </a:pPr>
            <a:r>
              <a:rPr lang="en-US" sz="1100" b="1" dirty="0">
                <a:solidFill>
                  <a:srgbClr val="2C4A2E"/>
                </a:solidFill>
              </a:rPr>
              <a:t>Train models: </a:t>
            </a:r>
            <a:pPr indent="0" marL="0">
              <a:lnSpc>
                <a:spcPct val="118000"/>
              </a:lnSpc>
              <a:buNone/>
            </a:pPr>
            <a:r>
              <a:rPr lang="en-US" sz="1050" dirty="0">
                <a:solidFill>
                  <a:srgbClr val="6B7280"/>
                </a:solidFill>
              </a:rPr>
              <a:t>Run XGBoost &amp; LightGBM — tree-based algorithms that learn patterns from data</a:t>
            </a:r>
            <a:endParaRPr lang="en-US" sz="1050" dirty="0"/>
          </a:p>
        </p:txBody>
      </p:sp>
      <p:sp>
        <p:nvSpPr>
          <p:cNvPr id="30" name="Shape 28"/>
          <p:cNvSpPr/>
          <p:nvPr/>
        </p:nvSpPr>
        <p:spPr>
          <a:xfrm>
            <a:off x="4617720" y="3493008"/>
            <a:ext cx="347472" cy="512064"/>
          </a:xfrm>
          <a:prstGeom prst="rect">
            <a:avLst/>
          </a:prstGeom>
          <a:solidFill>
            <a:srgbClr val="2C4A2E"/>
          </a:solidFill>
          <a:ln/>
        </p:spPr>
      </p:sp>
      <p:sp>
        <p:nvSpPr>
          <p:cNvPr id="31" name="Text 29"/>
          <p:cNvSpPr/>
          <p:nvPr/>
        </p:nvSpPr>
        <p:spPr>
          <a:xfrm>
            <a:off x="4617720" y="3493008"/>
            <a:ext cx="347472" cy="512064"/>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32" name="Text 30"/>
          <p:cNvSpPr/>
          <p:nvPr/>
        </p:nvSpPr>
        <p:spPr>
          <a:xfrm>
            <a:off x="5029200" y="3529584"/>
            <a:ext cx="3547872" cy="512064"/>
          </a:xfrm>
          <a:prstGeom prst="rect">
            <a:avLst/>
          </a:prstGeom>
          <a:noFill/>
          <a:ln/>
        </p:spPr>
        <p:txBody>
          <a:bodyPr wrap="square" rtlCol="0" anchor="ctr"/>
          <a:lstStyle/>
          <a:p>
            <a:pPr indent="0" marL="0">
              <a:lnSpc>
                <a:spcPct val="118000"/>
              </a:lnSpc>
              <a:buNone/>
            </a:pPr>
            <a:r>
              <a:rPr lang="en-US" sz="1100" b="1" dirty="0">
                <a:solidFill>
                  <a:srgbClr val="2C4A2E"/>
                </a:solidFill>
              </a:rPr>
              <a:t>Evaluate: </a:t>
            </a:r>
            <a:pPr indent="0" marL="0">
              <a:lnSpc>
                <a:spcPct val="118000"/>
              </a:lnSpc>
              <a:buNone/>
            </a:pPr>
            <a:r>
              <a:rPr lang="en-US" sz="1050" dirty="0">
                <a:solidFill>
                  <a:srgbClr val="6B7280"/>
                </a:solidFill>
              </a:rPr>
              <a:t>Check accuracy, F1-score, and cross-validation across all grade bands</a:t>
            </a:r>
            <a:endParaRPr lang="en-US" sz="1050" dirty="0"/>
          </a:p>
        </p:txBody>
      </p:sp>
      <p:sp>
        <p:nvSpPr>
          <p:cNvPr id="33" name="Shape 31"/>
          <p:cNvSpPr/>
          <p:nvPr/>
        </p:nvSpPr>
        <p:spPr>
          <a:xfrm>
            <a:off x="4617720" y="4059936"/>
            <a:ext cx="347472" cy="512064"/>
          </a:xfrm>
          <a:prstGeom prst="rect">
            <a:avLst/>
          </a:prstGeom>
          <a:solidFill>
            <a:srgbClr val="2C4A2E"/>
          </a:solidFill>
          <a:ln/>
        </p:spPr>
      </p:sp>
      <p:sp>
        <p:nvSpPr>
          <p:cNvPr id="34" name="Text 32"/>
          <p:cNvSpPr/>
          <p:nvPr/>
        </p:nvSpPr>
        <p:spPr>
          <a:xfrm>
            <a:off x="4617720" y="4059936"/>
            <a:ext cx="347472" cy="512064"/>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35" name="Text 33"/>
          <p:cNvSpPr/>
          <p:nvPr/>
        </p:nvSpPr>
        <p:spPr>
          <a:xfrm>
            <a:off x="5029200" y="4096512"/>
            <a:ext cx="3547872" cy="512064"/>
          </a:xfrm>
          <a:prstGeom prst="rect">
            <a:avLst/>
          </a:prstGeom>
          <a:noFill/>
          <a:ln/>
        </p:spPr>
        <p:txBody>
          <a:bodyPr wrap="square" rtlCol="0" anchor="ctr"/>
          <a:lstStyle/>
          <a:p>
            <a:pPr indent="0" marL="0">
              <a:lnSpc>
                <a:spcPct val="118000"/>
              </a:lnSpc>
              <a:buNone/>
            </a:pPr>
            <a:r>
              <a:rPr lang="en-US" sz="1100" b="1" dirty="0">
                <a:solidFill>
                  <a:srgbClr val="2C4A2E"/>
                </a:solidFill>
              </a:rPr>
              <a:t>Explain with SHAP: </a:t>
            </a:r>
            <a:pPr indent="0" marL="0">
              <a:lnSpc>
                <a:spcPct val="118000"/>
              </a:lnSpc>
              <a:buNone/>
            </a:pPr>
            <a:r>
              <a:rPr lang="en-US" sz="1050" dirty="0">
                <a:solidFill>
                  <a:srgbClr val="6B7280"/>
                </a:solidFill>
              </a:rPr>
              <a:t>Break down each prediction to show which habits pushed the score up or down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0" y="0"/>
            <a:ext cx="2286000" cy="329184"/>
          </a:xfrm>
          <a:prstGeom prst="rect">
            <a:avLst/>
          </a:prstGeom>
          <a:solidFill>
            <a:srgbClr val="2C4A2E"/>
          </a:solidFill>
          <a:ln/>
        </p:spPr>
      </p:sp>
      <p:sp>
        <p:nvSpPr>
          <p:cNvPr id="3" name="Text 1"/>
          <p:cNvSpPr/>
          <p:nvPr/>
        </p:nvSpPr>
        <p:spPr>
          <a:xfrm>
            <a:off x="109728" y="36576"/>
            <a:ext cx="2103120" cy="256032"/>
          </a:xfrm>
          <a:prstGeom prst="rect">
            <a:avLst/>
          </a:prstGeom>
          <a:noFill/>
          <a:ln/>
        </p:spPr>
        <p:txBody>
          <a:bodyPr wrap="square" lIns="0" tIns="0" rIns="0" bIns="0" rtlCol="0" anchor="ctr"/>
          <a:lstStyle/>
          <a:p>
            <a:pPr indent="0" marL="0">
              <a:buNone/>
            </a:pPr>
            <a:r>
              <a:rPr lang="en-US" sz="900" dirty="0">
                <a:solidFill>
                  <a:srgbClr val="FFFFFF"/>
                </a:solidFill>
              </a:rPr>
              <a:t>DS340W | Spring 2026</a:t>
            </a:r>
            <a:endParaRPr lang="en-US" sz="900" dirty="0"/>
          </a:p>
        </p:txBody>
      </p:sp>
      <p:sp>
        <p:nvSpPr>
          <p:cNvPr id="4" name="Shape 2"/>
          <p:cNvSpPr/>
          <p:nvPr/>
        </p:nvSpPr>
        <p:spPr>
          <a:xfrm>
            <a:off x="0" y="4873752"/>
            <a:ext cx="1280160" cy="274320"/>
          </a:xfrm>
          <a:prstGeom prst="rect">
            <a:avLst/>
          </a:prstGeom>
          <a:solidFill>
            <a:srgbClr val="2C4A2E"/>
          </a:solidFill>
          <a:ln/>
        </p:spPr>
      </p:sp>
      <p:sp>
        <p:nvSpPr>
          <p:cNvPr id="5" name="Shape 3"/>
          <p:cNvSpPr/>
          <p:nvPr/>
        </p:nvSpPr>
        <p:spPr>
          <a:xfrm>
            <a:off x="1371600" y="4873752"/>
            <a:ext cx="7772400" cy="274320"/>
          </a:xfrm>
          <a:prstGeom prst="rect">
            <a:avLst/>
          </a:prstGeom>
          <a:solidFill>
            <a:srgbClr val="3D6B40"/>
          </a:solidFill>
          <a:ln/>
        </p:spPr>
      </p:sp>
      <p:sp>
        <p:nvSpPr>
          <p:cNvPr id="6" name="Text 4"/>
          <p:cNvSpPr/>
          <p:nvPr/>
        </p:nvSpPr>
        <p:spPr>
          <a:xfrm>
            <a:off x="8412480" y="73152"/>
            <a:ext cx="685800" cy="384048"/>
          </a:xfrm>
          <a:prstGeom prst="rect">
            <a:avLst/>
          </a:prstGeom>
          <a:noFill/>
          <a:ln/>
        </p:spPr>
        <p:txBody>
          <a:bodyPr wrap="square" lIns="0" tIns="0" rIns="0" bIns="0" rtlCol="0" anchor="ctr"/>
          <a:lstStyle/>
          <a:p>
            <a:pPr algn="r" indent="0" marL="0">
              <a:buNone/>
            </a:pPr>
            <a:r>
              <a:rPr lang="en-US" sz="2000" b="1" dirty="0">
                <a:solidFill>
                  <a:srgbClr val="2C4A2E"/>
                </a:solidFill>
              </a:rPr>
              <a:t>08</a:t>
            </a:r>
            <a:endParaRPr lang="en-US" sz="2000" dirty="0"/>
          </a:p>
        </p:txBody>
      </p:sp>
      <p:sp>
        <p:nvSpPr>
          <p:cNvPr id="7" name="Text 5"/>
          <p:cNvSpPr/>
          <p:nvPr/>
        </p:nvSpPr>
        <p:spPr>
          <a:xfrm>
            <a:off x="457200" y="91440"/>
            <a:ext cx="8229600" cy="658368"/>
          </a:xfrm>
          <a:prstGeom prst="rect">
            <a:avLst/>
          </a:prstGeom>
          <a:noFill/>
          <a:ln/>
        </p:spPr>
        <p:txBody>
          <a:bodyPr wrap="square" rtlCol="0" anchor="ctr"/>
          <a:lstStyle/>
          <a:p>
            <a:pPr algn="ctr" indent="0" marL="0">
              <a:buNone/>
            </a:pPr>
            <a:r>
              <a:rPr lang="en-US" sz="3400" dirty="0">
                <a:solidFill>
                  <a:srgbClr val="2C4A2E"/>
                </a:solidFill>
                <a:latin typeface="Georgia" pitchFamily="34" charset="0"/>
                <a:ea typeface="Georgia" pitchFamily="34" charset="-122"/>
                <a:cs typeface="Georgia" pitchFamily="34" charset="-120"/>
              </a:rPr>
              <a:t>New Features We Created</a:t>
            </a:r>
            <a:endParaRPr lang="en-US" sz="3400" dirty="0"/>
          </a:p>
        </p:txBody>
      </p:sp>
      <p:sp>
        <p:nvSpPr>
          <p:cNvPr id="8" name="Text 6"/>
          <p:cNvSpPr/>
          <p:nvPr/>
        </p:nvSpPr>
        <p:spPr>
          <a:xfrm>
            <a:off x="457200" y="804672"/>
            <a:ext cx="8229600" cy="320040"/>
          </a:xfrm>
          <a:prstGeom prst="rect">
            <a:avLst/>
          </a:prstGeom>
          <a:noFill/>
          <a:ln/>
        </p:spPr>
        <p:txBody>
          <a:bodyPr wrap="square" rtlCol="0" anchor="ctr"/>
          <a:lstStyle/>
          <a:p>
            <a:pPr algn="ctr" indent="0" marL="0">
              <a:buNone/>
            </a:pPr>
            <a:r>
              <a:rPr lang="en-US" sz="1150" dirty="0">
                <a:solidFill>
                  <a:srgbClr val="2C4A2E"/>
                </a:solidFill>
              </a:rPr>
              <a:t>The parent paper used only raw data. We created 5 new variables that better capture student behavior:</a:t>
            </a:r>
            <a:endParaRPr lang="en-US" sz="1150" dirty="0"/>
          </a:p>
        </p:txBody>
      </p:sp>
      <p:sp>
        <p:nvSpPr>
          <p:cNvPr id="9" name="Shape 7"/>
          <p:cNvSpPr/>
          <p:nvPr/>
        </p:nvSpPr>
        <p:spPr>
          <a:xfrm>
            <a:off x="411480" y="1188720"/>
            <a:ext cx="2651760" cy="329184"/>
          </a:xfrm>
          <a:prstGeom prst="rect">
            <a:avLst/>
          </a:prstGeom>
          <a:solidFill>
            <a:srgbClr val="2C4A2E"/>
          </a:solidFill>
          <a:ln/>
        </p:spPr>
      </p:sp>
      <p:sp>
        <p:nvSpPr>
          <p:cNvPr id="10" name="Text 8"/>
          <p:cNvSpPr/>
          <p:nvPr/>
        </p:nvSpPr>
        <p:spPr>
          <a:xfrm>
            <a:off x="502920" y="1188720"/>
            <a:ext cx="2514600" cy="329184"/>
          </a:xfrm>
          <a:prstGeom prst="rect">
            <a:avLst/>
          </a:prstGeom>
          <a:noFill/>
          <a:ln/>
        </p:spPr>
        <p:txBody>
          <a:bodyPr wrap="square" lIns="0" tIns="0" rIns="0" bIns="0" rtlCol="0" anchor="ctr"/>
          <a:lstStyle/>
          <a:p>
            <a:pPr indent="0" marL="0">
              <a:buNone/>
            </a:pPr>
            <a:r>
              <a:rPr lang="en-US" sz="1100" b="1" dirty="0">
                <a:solidFill>
                  <a:srgbClr val="FFFFFF"/>
                </a:solidFill>
              </a:rPr>
              <a:t>Distraction Index</a:t>
            </a:r>
            <a:endParaRPr lang="en-US" sz="1100" dirty="0"/>
          </a:p>
        </p:txBody>
      </p:sp>
      <p:sp>
        <p:nvSpPr>
          <p:cNvPr id="11" name="Shape 9"/>
          <p:cNvSpPr/>
          <p:nvPr/>
        </p:nvSpPr>
        <p:spPr>
          <a:xfrm>
            <a:off x="411480" y="1517904"/>
            <a:ext cx="2651760" cy="1024128"/>
          </a:xfrm>
          <a:prstGeom prst="rect">
            <a:avLst/>
          </a:prstGeom>
          <a:solidFill>
            <a:srgbClr val="EEE8DC"/>
          </a:solidFill>
          <a:ln/>
          <a:effectLst>
            <a:outerShdw sx="100000" sy="100000" kx="0" ky="0" algn="bl" rotWithShape="0" blurRad="63500" dist="25400" dir="8100000">
              <a:srgbClr val="000000">
                <a:alpha val="10000"/>
              </a:srgbClr>
            </a:outerShdw>
          </a:effectLst>
        </p:spPr>
      </p:sp>
      <p:sp>
        <p:nvSpPr>
          <p:cNvPr id="12" name="Text 10"/>
          <p:cNvSpPr/>
          <p:nvPr/>
        </p:nvSpPr>
        <p:spPr>
          <a:xfrm>
            <a:off x="502920" y="1572768"/>
            <a:ext cx="2487168" cy="896112"/>
          </a:xfrm>
          <a:prstGeom prst="rect">
            <a:avLst/>
          </a:prstGeom>
          <a:noFill/>
          <a:ln/>
        </p:spPr>
        <p:txBody>
          <a:bodyPr wrap="square" rtlCol="0" anchor="ctr"/>
          <a:lstStyle/>
          <a:p>
            <a:pPr indent="0" marL="0">
              <a:lnSpc>
                <a:spcPct val="125000"/>
              </a:lnSpc>
              <a:buNone/>
            </a:pPr>
            <a:r>
              <a:rPr lang="en-US" sz="1050" b="1" dirty="0">
                <a:solidFill>
                  <a:srgbClr val="2C4A2E"/>
                </a:solidFill>
              </a:rPr>
              <a:t>Formula: </a:t>
            </a:r>
            <a:pPr indent="0" marL="0">
              <a:lnSpc>
                <a:spcPct val="125000"/>
              </a:lnSpc>
              <a:buNone/>
            </a:pPr>
            <a:r>
              <a:rPr lang="en-US" sz="1000" i="1" dirty="0">
                <a:solidFill>
                  <a:srgbClr val="3D6B40"/>
                </a:solidFill>
              </a:rPr>
              <a:t>social media hours + Netflix hours</a:t>
            </a:r>
            <a:endParaRPr lang="en-US" sz="1050" dirty="0"/>
          </a:p>
          <a:p>
            <a:pPr indent="0" marL="0">
              <a:lnSpc>
                <a:spcPct val="125000"/>
              </a:lnSpc>
              <a:buNone/>
            </a:pPr>
            <a:r>
              <a:rPr lang="en-US" sz="1000" dirty="0">
                <a:solidFill>
                  <a:srgbClr val="6B7280"/>
                </a:solidFill>
              </a:rPr>
              <a:t>Total time spent on non-academic activities each day</a:t>
            </a:r>
            <a:endParaRPr lang="en-US" sz="1050" dirty="0"/>
          </a:p>
        </p:txBody>
      </p:sp>
      <p:sp>
        <p:nvSpPr>
          <p:cNvPr id="13" name="Shape 11"/>
          <p:cNvSpPr/>
          <p:nvPr/>
        </p:nvSpPr>
        <p:spPr>
          <a:xfrm>
            <a:off x="3246120" y="1188720"/>
            <a:ext cx="2651760" cy="329184"/>
          </a:xfrm>
          <a:prstGeom prst="rect">
            <a:avLst/>
          </a:prstGeom>
          <a:solidFill>
            <a:srgbClr val="2C4A2E"/>
          </a:solidFill>
          <a:ln/>
        </p:spPr>
      </p:sp>
      <p:sp>
        <p:nvSpPr>
          <p:cNvPr id="14" name="Text 12"/>
          <p:cNvSpPr/>
          <p:nvPr/>
        </p:nvSpPr>
        <p:spPr>
          <a:xfrm>
            <a:off x="3337560" y="1188720"/>
            <a:ext cx="2514600" cy="329184"/>
          </a:xfrm>
          <a:prstGeom prst="rect">
            <a:avLst/>
          </a:prstGeom>
          <a:noFill/>
          <a:ln/>
        </p:spPr>
        <p:txBody>
          <a:bodyPr wrap="square" lIns="0" tIns="0" rIns="0" bIns="0" rtlCol="0" anchor="ctr"/>
          <a:lstStyle/>
          <a:p>
            <a:pPr indent="0" marL="0">
              <a:buNone/>
            </a:pPr>
            <a:r>
              <a:rPr lang="en-US" sz="1100" b="1" dirty="0">
                <a:solidFill>
                  <a:srgbClr val="FFFFFF"/>
                </a:solidFill>
              </a:rPr>
              <a:t>Productivity Ratio</a:t>
            </a:r>
            <a:endParaRPr lang="en-US" sz="1100" dirty="0"/>
          </a:p>
        </p:txBody>
      </p:sp>
      <p:sp>
        <p:nvSpPr>
          <p:cNvPr id="15" name="Shape 13"/>
          <p:cNvSpPr/>
          <p:nvPr/>
        </p:nvSpPr>
        <p:spPr>
          <a:xfrm>
            <a:off x="3246120" y="1517904"/>
            <a:ext cx="2651760" cy="1024128"/>
          </a:xfrm>
          <a:prstGeom prst="rect">
            <a:avLst/>
          </a:prstGeom>
          <a:solidFill>
            <a:srgbClr val="EEE8DC"/>
          </a:solidFill>
          <a:ln/>
          <a:effectLst>
            <a:outerShdw sx="100000" sy="100000" kx="0" ky="0" algn="bl" rotWithShape="0" blurRad="63500" dist="25400" dir="8100000">
              <a:srgbClr val="000000">
                <a:alpha val="10000"/>
              </a:srgbClr>
            </a:outerShdw>
          </a:effectLst>
        </p:spPr>
      </p:sp>
      <p:sp>
        <p:nvSpPr>
          <p:cNvPr id="16" name="Text 14"/>
          <p:cNvSpPr/>
          <p:nvPr/>
        </p:nvSpPr>
        <p:spPr>
          <a:xfrm>
            <a:off x="3337560" y="1572768"/>
            <a:ext cx="2487168" cy="896112"/>
          </a:xfrm>
          <a:prstGeom prst="rect">
            <a:avLst/>
          </a:prstGeom>
          <a:noFill/>
          <a:ln/>
        </p:spPr>
        <p:txBody>
          <a:bodyPr wrap="square" rtlCol="0" anchor="ctr"/>
          <a:lstStyle/>
          <a:p>
            <a:pPr indent="0" marL="0">
              <a:lnSpc>
                <a:spcPct val="125000"/>
              </a:lnSpc>
              <a:buNone/>
            </a:pPr>
            <a:r>
              <a:rPr lang="en-US" sz="1050" b="1" dirty="0">
                <a:solidFill>
                  <a:srgbClr val="2C4A2E"/>
                </a:solidFill>
              </a:rPr>
              <a:t>Formula: </a:t>
            </a:r>
            <a:pPr indent="0" marL="0">
              <a:lnSpc>
                <a:spcPct val="125000"/>
              </a:lnSpc>
              <a:buNone/>
            </a:pPr>
            <a:r>
              <a:rPr lang="en-US" sz="1000" i="1" dirty="0">
                <a:solidFill>
                  <a:srgbClr val="3D6B40"/>
                </a:solidFill>
              </a:rPr>
              <a:t>study hours ÷ (distraction index + 1)</a:t>
            </a:r>
            <a:endParaRPr lang="en-US" sz="1050" dirty="0"/>
          </a:p>
          <a:p>
            <a:pPr indent="0" marL="0">
              <a:lnSpc>
                <a:spcPct val="125000"/>
              </a:lnSpc>
              <a:buNone/>
            </a:pPr>
            <a:r>
              <a:rPr lang="en-US" sz="1000" dirty="0">
                <a:solidFill>
                  <a:srgbClr val="6B7280"/>
                </a:solidFill>
              </a:rPr>
              <a:t>How much a student studies relative to how distracted they are</a:t>
            </a:r>
            <a:endParaRPr lang="en-US" sz="1050" dirty="0"/>
          </a:p>
        </p:txBody>
      </p:sp>
      <p:sp>
        <p:nvSpPr>
          <p:cNvPr id="17" name="Shape 15"/>
          <p:cNvSpPr/>
          <p:nvPr/>
        </p:nvSpPr>
        <p:spPr>
          <a:xfrm>
            <a:off x="6080760" y="1188720"/>
            <a:ext cx="2651760" cy="329184"/>
          </a:xfrm>
          <a:prstGeom prst="rect">
            <a:avLst/>
          </a:prstGeom>
          <a:solidFill>
            <a:srgbClr val="2C4A2E"/>
          </a:solidFill>
          <a:ln/>
        </p:spPr>
      </p:sp>
      <p:sp>
        <p:nvSpPr>
          <p:cNvPr id="18" name="Text 16"/>
          <p:cNvSpPr/>
          <p:nvPr/>
        </p:nvSpPr>
        <p:spPr>
          <a:xfrm>
            <a:off x="6172200" y="1188720"/>
            <a:ext cx="2514600" cy="329184"/>
          </a:xfrm>
          <a:prstGeom prst="rect">
            <a:avLst/>
          </a:prstGeom>
          <a:noFill/>
          <a:ln/>
        </p:spPr>
        <p:txBody>
          <a:bodyPr wrap="square" lIns="0" tIns="0" rIns="0" bIns="0" rtlCol="0" anchor="ctr"/>
          <a:lstStyle/>
          <a:p>
            <a:pPr indent="0" marL="0">
              <a:buNone/>
            </a:pPr>
            <a:r>
              <a:rPr lang="en-US" sz="1100" b="1" dirty="0">
                <a:solidFill>
                  <a:srgbClr val="FFFFFF"/>
                </a:solidFill>
              </a:rPr>
              <a:t>Wellness Score</a:t>
            </a:r>
            <a:endParaRPr lang="en-US" sz="1100" dirty="0"/>
          </a:p>
        </p:txBody>
      </p:sp>
      <p:sp>
        <p:nvSpPr>
          <p:cNvPr id="19" name="Shape 17"/>
          <p:cNvSpPr/>
          <p:nvPr/>
        </p:nvSpPr>
        <p:spPr>
          <a:xfrm>
            <a:off x="6080760" y="1517904"/>
            <a:ext cx="2651760" cy="1024128"/>
          </a:xfrm>
          <a:prstGeom prst="rect">
            <a:avLst/>
          </a:prstGeom>
          <a:solidFill>
            <a:srgbClr val="EEE8DC"/>
          </a:solidFill>
          <a:ln/>
          <a:effectLst>
            <a:outerShdw sx="100000" sy="100000" kx="0" ky="0" algn="bl" rotWithShape="0" blurRad="63500" dist="25400" dir="8100000">
              <a:srgbClr val="000000">
                <a:alpha val="10000"/>
              </a:srgbClr>
            </a:outerShdw>
          </a:effectLst>
        </p:spPr>
      </p:sp>
      <p:sp>
        <p:nvSpPr>
          <p:cNvPr id="20" name="Text 18"/>
          <p:cNvSpPr/>
          <p:nvPr/>
        </p:nvSpPr>
        <p:spPr>
          <a:xfrm>
            <a:off x="6172200" y="1572768"/>
            <a:ext cx="2487168" cy="896112"/>
          </a:xfrm>
          <a:prstGeom prst="rect">
            <a:avLst/>
          </a:prstGeom>
          <a:noFill/>
          <a:ln/>
        </p:spPr>
        <p:txBody>
          <a:bodyPr wrap="square" rtlCol="0" anchor="ctr"/>
          <a:lstStyle/>
          <a:p>
            <a:pPr indent="0" marL="0">
              <a:lnSpc>
                <a:spcPct val="125000"/>
              </a:lnSpc>
              <a:buNone/>
            </a:pPr>
            <a:r>
              <a:rPr lang="en-US" sz="1050" b="1" dirty="0">
                <a:solidFill>
                  <a:srgbClr val="2C4A2E"/>
                </a:solidFill>
              </a:rPr>
              <a:t>Formula: </a:t>
            </a:r>
            <a:pPr indent="0" marL="0">
              <a:lnSpc>
                <a:spcPct val="125000"/>
              </a:lnSpc>
              <a:buNone/>
            </a:pPr>
            <a:r>
              <a:rPr lang="en-US" sz="1000" i="1" dirty="0">
                <a:solidFill>
                  <a:srgbClr val="3D6B40"/>
                </a:solidFill>
              </a:rPr>
              <a:t>combination of sleep, diet, and exercise</a:t>
            </a:r>
            <a:endParaRPr lang="en-US" sz="1050" dirty="0"/>
          </a:p>
          <a:p>
            <a:pPr indent="0" marL="0">
              <a:lnSpc>
                <a:spcPct val="125000"/>
              </a:lnSpc>
              <a:buNone/>
            </a:pPr>
            <a:r>
              <a:rPr lang="en-US" sz="1000" dirty="0">
                <a:solidFill>
                  <a:srgbClr val="6B7280"/>
                </a:solidFill>
              </a:rPr>
              <a:t>A single number summarising how healthy a student's daily habits are</a:t>
            </a:r>
            <a:endParaRPr lang="en-US" sz="1050" dirty="0"/>
          </a:p>
        </p:txBody>
      </p:sp>
      <p:sp>
        <p:nvSpPr>
          <p:cNvPr id="21" name="Shape 19"/>
          <p:cNvSpPr/>
          <p:nvPr/>
        </p:nvSpPr>
        <p:spPr>
          <a:xfrm>
            <a:off x="411480" y="2679192"/>
            <a:ext cx="3931920" cy="329184"/>
          </a:xfrm>
          <a:prstGeom prst="rect">
            <a:avLst/>
          </a:prstGeom>
          <a:solidFill>
            <a:srgbClr val="3D6B40"/>
          </a:solidFill>
          <a:ln/>
        </p:spPr>
      </p:sp>
      <p:sp>
        <p:nvSpPr>
          <p:cNvPr id="22" name="Text 20"/>
          <p:cNvSpPr/>
          <p:nvPr/>
        </p:nvSpPr>
        <p:spPr>
          <a:xfrm>
            <a:off x="502920" y="2679192"/>
            <a:ext cx="3794760" cy="329184"/>
          </a:xfrm>
          <a:prstGeom prst="rect">
            <a:avLst/>
          </a:prstGeom>
          <a:noFill/>
          <a:ln/>
        </p:spPr>
        <p:txBody>
          <a:bodyPr wrap="square" lIns="0" tIns="0" rIns="0" bIns="0" rtlCol="0" anchor="ctr"/>
          <a:lstStyle/>
          <a:p>
            <a:pPr indent="0" marL="0">
              <a:buNone/>
            </a:pPr>
            <a:r>
              <a:rPr lang="en-US" sz="1100" b="1" dirty="0">
                <a:solidFill>
                  <a:srgbClr val="FFFFFF"/>
                </a:solidFill>
              </a:rPr>
              <a:t>Study × Attendance</a:t>
            </a:r>
            <a:endParaRPr lang="en-US" sz="1100" dirty="0"/>
          </a:p>
        </p:txBody>
      </p:sp>
      <p:sp>
        <p:nvSpPr>
          <p:cNvPr id="23" name="Shape 21"/>
          <p:cNvSpPr/>
          <p:nvPr/>
        </p:nvSpPr>
        <p:spPr>
          <a:xfrm>
            <a:off x="411480" y="3008376"/>
            <a:ext cx="3931920" cy="877824"/>
          </a:xfrm>
          <a:prstGeom prst="rect">
            <a:avLst/>
          </a:prstGeom>
          <a:solidFill>
            <a:srgbClr val="EEE8DC"/>
          </a:solidFill>
          <a:ln/>
          <a:effectLst>
            <a:outerShdw sx="100000" sy="100000" kx="0" ky="0" algn="bl" rotWithShape="0" blurRad="63500" dist="25400" dir="8100000">
              <a:srgbClr val="000000">
                <a:alpha val="10000"/>
              </a:srgbClr>
            </a:outerShdw>
          </a:effectLst>
        </p:spPr>
      </p:sp>
      <p:sp>
        <p:nvSpPr>
          <p:cNvPr id="24" name="Text 22"/>
          <p:cNvSpPr/>
          <p:nvPr/>
        </p:nvSpPr>
        <p:spPr>
          <a:xfrm>
            <a:off x="502920" y="3063240"/>
            <a:ext cx="3767328" cy="749808"/>
          </a:xfrm>
          <a:prstGeom prst="rect">
            <a:avLst/>
          </a:prstGeom>
          <a:noFill/>
          <a:ln/>
        </p:spPr>
        <p:txBody>
          <a:bodyPr wrap="square" rtlCol="0" anchor="ctr"/>
          <a:lstStyle/>
          <a:p>
            <a:pPr indent="0" marL="0">
              <a:lnSpc>
                <a:spcPct val="125000"/>
              </a:lnSpc>
              <a:buNone/>
            </a:pPr>
            <a:r>
              <a:rPr lang="en-US" sz="1050" b="1" dirty="0">
                <a:solidFill>
                  <a:srgbClr val="2C4A2E"/>
                </a:solidFill>
              </a:rPr>
              <a:t>Formula: </a:t>
            </a:r>
            <a:pPr indent="0" marL="0">
              <a:lnSpc>
                <a:spcPct val="125000"/>
              </a:lnSpc>
              <a:buNone/>
            </a:pPr>
            <a:r>
              <a:rPr lang="en-US" sz="1000" i="1" dirty="0">
                <a:solidFill>
                  <a:srgbClr val="3D6B40"/>
                </a:solidFill>
              </a:rPr>
              <a:t>study hours × attendance %</a:t>
            </a:r>
            <a:endParaRPr lang="en-US" sz="1050" dirty="0"/>
          </a:p>
          <a:p>
            <a:pPr indent="0" marL="0">
              <a:lnSpc>
                <a:spcPct val="125000"/>
              </a:lnSpc>
              <a:buNone/>
            </a:pPr>
            <a:r>
              <a:rPr lang="en-US" sz="1000" dirty="0">
                <a:solidFill>
                  <a:srgbClr val="6B7280"/>
                </a:solidFill>
              </a:rPr>
              <a:t>Captures whether a student who studies a lot also actually shows up</a:t>
            </a:r>
            <a:endParaRPr lang="en-US" sz="1050" dirty="0"/>
          </a:p>
        </p:txBody>
      </p:sp>
      <p:sp>
        <p:nvSpPr>
          <p:cNvPr id="25" name="Shape 23"/>
          <p:cNvSpPr/>
          <p:nvPr/>
        </p:nvSpPr>
        <p:spPr>
          <a:xfrm>
            <a:off x="4800600" y="2679192"/>
            <a:ext cx="3931920" cy="329184"/>
          </a:xfrm>
          <a:prstGeom prst="rect">
            <a:avLst/>
          </a:prstGeom>
          <a:solidFill>
            <a:srgbClr val="3D6B40"/>
          </a:solidFill>
          <a:ln/>
        </p:spPr>
      </p:sp>
      <p:sp>
        <p:nvSpPr>
          <p:cNvPr id="26" name="Text 24"/>
          <p:cNvSpPr/>
          <p:nvPr/>
        </p:nvSpPr>
        <p:spPr>
          <a:xfrm>
            <a:off x="4892040" y="2679192"/>
            <a:ext cx="3794760" cy="329184"/>
          </a:xfrm>
          <a:prstGeom prst="rect">
            <a:avLst/>
          </a:prstGeom>
          <a:noFill/>
          <a:ln/>
        </p:spPr>
        <p:txBody>
          <a:bodyPr wrap="square" lIns="0" tIns="0" rIns="0" bIns="0" rtlCol="0" anchor="ctr"/>
          <a:lstStyle/>
          <a:p>
            <a:pPr indent="0" marL="0">
              <a:buNone/>
            </a:pPr>
            <a:r>
              <a:rPr lang="en-US" sz="1100" b="1" dirty="0">
                <a:solidFill>
                  <a:srgbClr val="FFFFFF"/>
                </a:solidFill>
              </a:rPr>
              <a:t>Optimal Sleep Flag</a:t>
            </a:r>
            <a:endParaRPr lang="en-US" sz="1100" dirty="0"/>
          </a:p>
        </p:txBody>
      </p:sp>
      <p:sp>
        <p:nvSpPr>
          <p:cNvPr id="27" name="Shape 25"/>
          <p:cNvSpPr/>
          <p:nvPr/>
        </p:nvSpPr>
        <p:spPr>
          <a:xfrm>
            <a:off x="4800600" y="3008376"/>
            <a:ext cx="3931920" cy="877824"/>
          </a:xfrm>
          <a:prstGeom prst="rect">
            <a:avLst/>
          </a:prstGeom>
          <a:solidFill>
            <a:srgbClr val="EEE8DC"/>
          </a:solidFill>
          <a:ln/>
          <a:effectLst>
            <a:outerShdw sx="100000" sy="100000" kx="0" ky="0" algn="bl" rotWithShape="0" blurRad="63500" dist="25400" dir="8100000">
              <a:srgbClr val="000000">
                <a:alpha val="10000"/>
              </a:srgbClr>
            </a:outerShdw>
          </a:effectLst>
        </p:spPr>
      </p:sp>
      <p:sp>
        <p:nvSpPr>
          <p:cNvPr id="28" name="Text 26"/>
          <p:cNvSpPr/>
          <p:nvPr/>
        </p:nvSpPr>
        <p:spPr>
          <a:xfrm>
            <a:off x="4892040" y="3063240"/>
            <a:ext cx="3767328" cy="749808"/>
          </a:xfrm>
          <a:prstGeom prst="rect">
            <a:avLst/>
          </a:prstGeom>
          <a:noFill/>
          <a:ln/>
        </p:spPr>
        <p:txBody>
          <a:bodyPr wrap="square" rtlCol="0" anchor="ctr"/>
          <a:lstStyle/>
          <a:p>
            <a:pPr indent="0" marL="0">
              <a:lnSpc>
                <a:spcPct val="125000"/>
              </a:lnSpc>
              <a:buNone/>
            </a:pPr>
            <a:r>
              <a:rPr lang="en-US" sz="1050" b="1" dirty="0">
                <a:solidFill>
                  <a:srgbClr val="2C4A2E"/>
                </a:solidFill>
              </a:rPr>
              <a:t>Formula: </a:t>
            </a:r>
            <a:pPr indent="0" marL="0">
              <a:lnSpc>
                <a:spcPct val="125000"/>
              </a:lnSpc>
              <a:buNone/>
            </a:pPr>
            <a:r>
              <a:rPr lang="en-US" sz="1000" i="1" dirty="0">
                <a:solidFill>
                  <a:srgbClr val="3D6B40"/>
                </a:solidFill>
              </a:rPr>
              <a:t>1 if sleeping 7–9 hrs, 0 if not</a:t>
            </a:r>
            <a:endParaRPr lang="en-US" sz="1050" dirty="0"/>
          </a:p>
          <a:p>
            <a:pPr indent="0" marL="0">
              <a:lnSpc>
                <a:spcPct val="125000"/>
              </a:lnSpc>
              <a:buNone/>
            </a:pPr>
            <a:r>
              <a:rPr lang="en-US" sz="1000" dirty="0">
                <a:solidFill>
                  <a:srgbClr val="6B7280"/>
                </a:solidFill>
              </a:rPr>
              <a:t>Flags whether a student gets the recommended amount of sleep</a:t>
            </a:r>
            <a:endParaRPr lang="en-US" sz="1050" dirty="0"/>
          </a:p>
        </p:txBody>
      </p:sp>
      <p:sp>
        <p:nvSpPr>
          <p:cNvPr id="29" name="Text 27"/>
          <p:cNvSpPr/>
          <p:nvPr/>
        </p:nvSpPr>
        <p:spPr>
          <a:xfrm>
            <a:off x="411480" y="4645152"/>
            <a:ext cx="8321040" cy="256032"/>
          </a:xfrm>
          <a:prstGeom prst="rect">
            <a:avLst/>
          </a:prstGeom>
          <a:noFill/>
          <a:ln/>
        </p:spPr>
        <p:txBody>
          <a:bodyPr wrap="square" rtlCol="0" anchor="ctr"/>
          <a:lstStyle/>
          <a:p>
            <a:pPr algn="ctr" indent="0" marL="0">
              <a:buNone/>
            </a:pPr>
            <a:r>
              <a:rPr lang="en-US" sz="1050" i="1" dirty="0">
                <a:solidFill>
                  <a:srgbClr val="6B7280"/>
                </a:solidFill>
              </a:rPr>
              <a:t>These 5 features are our original contribution — none of them exist in the parent paper.</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0" y="0"/>
            <a:ext cx="2286000" cy="329184"/>
          </a:xfrm>
          <a:prstGeom prst="rect">
            <a:avLst/>
          </a:prstGeom>
          <a:solidFill>
            <a:srgbClr val="2C4A2E"/>
          </a:solidFill>
          <a:ln/>
        </p:spPr>
      </p:sp>
      <p:sp>
        <p:nvSpPr>
          <p:cNvPr id="3" name="Text 1"/>
          <p:cNvSpPr/>
          <p:nvPr/>
        </p:nvSpPr>
        <p:spPr>
          <a:xfrm>
            <a:off x="109728" y="36576"/>
            <a:ext cx="2103120" cy="256032"/>
          </a:xfrm>
          <a:prstGeom prst="rect">
            <a:avLst/>
          </a:prstGeom>
          <a:noFill/>
          <a:ln/>
        </p:spPr>
        <p:txBody>
          <a:bodyPr wrap="square" lIns="0" tIns="0" rIns="0" bIns="0" rtlCol="0" anchor="ctr"/>
          <a:lstStyle/>
          <a:p>
            <a:pPr indent="0" marL="0">
              <a:buNone/>
            </a:pPr>
            <a:r>
              <a:rPr lang="en-US" sz="900" dirty="0">
                <a:solidFill>
                  <a:srgbClr val="FFFFFF"/>
                </a:solidFill>
              </a:rPr>
              <a:t>DS340W | Spring 2026</a:t>
            </a:r>
            <a:endParaRPr lang="en-US" sz="900" dirty="0"/>
          </a:p>
        </p:txBody>
      </p:sp>
      <p:sp>
        <p:nvSpPr>
          <p:cNvPr id="4" name="Shape 2"/>
          <p:cNvSpPr/>
          <p:nvPr/>
        </p:nvSpPr>
        <p:spPr>
          <a:xfrm>
            <a:off x="0" y="4873752"/>
            <a:ext cx="1280160" cy="274320"/>
          </a:xfrm>
          <a:prstGeom prst="rect">
            <a:avLst/>
          </a:prstGeom>
          <a:solidFill>
            <a:srgbClr val="2C4A2E"/>
          </a:solidFill>
          <a:ln/>
        </p:spPr>
      </p:sp>
      <p:sp>
        <p:nvSpPr>
          <p:cNvPr id="5" name="Shape 3"/>
          <p:cNvSpPr/>
          <p:nvPr/>
        </p:nvSpPr>
        <p:spPr>
          <a:xfrm>
            <a:off x="1371600" y="4873752"/>
            <a:ext cx="7772400" cy="274320"/>
          </a:xfrm>
          <a:prstGeom prst="rect">
            <a:avLst/>
          </a:prstGeom>
          <a:solidFill>
            <a:srgbClr val="3D6B40"/>
          </a:solidFill>
          <a:ln/>
        </p:spPr>
      </p:sp>
      <p:sp>
        <p:nvSpPr>
          <p:cNvPr id="6" name="Text 4"/>
          <p:cNvSpPr/>
          <p:nvPr/>
        </p:nvSpPr>
        <p:spPr>
          <a:xfrm>
            <a:off x="8412480" y="73152"/>
            <a:ext cx="685800" cy="384048"/>
          </a:xfrm>
          <a:prstGeom prst="rect">
            <a:avLst/>
          </a:prstGeom>
          <a:noFill/>
          <a:ln/>
        </p:spPr>
        <p:txBody>
          <a:bodyPr wrap="square" lIns="0" tIns="0" rIns="0" bIns="0" rtlCol="0" anchor="ctr"/>
          <a:lstStyle/>
          <a:p>
            <a:pPr algn="r" indent="0" marL="0">
              <a:buNone/>
            </a:pPr>
            <a:r>
              <a:rPr lang="en-US" sz="2000" b="1" dirty="0">
                <a:solidFill>
                  <a:srgbClr val="2C4A2E"/>
                </a:solidFill>
              </a:rPr>
              <a:t>09</a:t>
            </a:r>
            <a:endParaRPr lang="en-US" sz="2000" dirty="0"/>
          </a:p>
        </p:txBody>
      </p:sp>
      <p:sp>
        <p:nvSpPr>
          <p:cNvPr id="7" name="Text 5"/>
          <p:cNvSpPr/>
          <p:nvPr/>
        </p:nvSpPr>
        <p:spPr>
          <a:xfrm>
            <a:off x="457200" y="457200"/>
            <a:ext cx="8229600" cy="658368"/>
          </a:xfrm>
          <a:prstGeom prst="rect">
            <a:avLst/>
          </a:prstGeom>
          <a:noFill/>
          <a:ln/>
        </p:spPr>
        <p:txBody>
          <a:bodyPr wrap="square" rtlCol="0" anchor="ctr"/>
          <a:lstStyle/>
          <a:p>
            <a:pPr algn="ctr" indent="0" marL="0">
              <a:buNone/>
            </a:pPr>
            <a:r>
              <a:rPr lang="en-US" sz="3400" dirty="0">
                <a:solidFill>
                  <a:srgbClr val="2C4A2E"/>
                </a:solidFill>
                <a:latin typeface="Georgia" pitchFamily="34" charset="0"/>
                <a:ea typeface="Georgia" pitchFamily="34" charset="-122"/>
                <a:cs typeface="Georgia" pitchFamily="34" charset="-120"/>
              </a:rPr>
              <a:t>Our Results</a:t>
            </a:r>
            <a:endParaRPr lang="en-US" sz="3400" dirty="0"/>
          </a:p>
        </p:txBody>
      </p:sp>
      <p:sp>
        <p:nvSpPr>
          <p:cNvPr id="8" name="Shape 6"/>
          <p:cNvSpPr/>
          <p:nvPr/>
        </p:nvSpPr>
        <p:spPr>
          <a:xfrm>
            <a:off x="411480" y="1170432"/>
            <a:ext cx="4069080" cy="329184"/>
          </a:xfrm>
          <a:prstGeom prst="rect">
            <a:avLst/>
          </a:prstGeom>
          <a:solidFill>
            <a:srgbClr val="2C4A2E"/>
          </a:solidFill>
          <a:ln/>
        </p:spPr>
      </p:sp>
      <p:sp>
        <p:nvSpPr>
          <p:cNvPr id="9" name="Text 7"/>
          <p:cNvSpPr/>
          <p:nvPr/>
        </p:nvSpPr>
        <p:spPr>
          <a:xfrm>
            <a:off x="502920" y="1170432"/>
            <a:ext cx="3931920" cy="329184"/>
          </a:xfrm>
          <a:prstGeom prst="rect">
            <a:avLst/>
          </a:prstGeom>
          <a:noFill/>
          <a:ln/>
        </p:spPr>
        <p:txBody>
          <a:bodyPr wrap="square" lIns="0" tIns="0" rIns="0" bIns="0" rtlCol="0" anchor="ctr"/>
          <a:lstStyle/>
          <a:p>
            <a:pPr indent="0" marL="0">
              <a:buNone/>
            </a:pPr>
            <a:r>
              <a:rPr lang="en-US" sz="1100" b="1" dirty="0">
                <a:solidFill>
                  <a:srgbClr val="FFFFFF"/>
                </a:solidFill>
              </a:rPr>
              <a:t>Task A: Predicting the Exact Exam Score</a:t>
            </a:r>
            <a:endParaRPr lang="en-US" sz="1100" dirty="0"/>
          </a:p>
        </p:txBody>
      </p:sp>
      <p:sp>
        <p:nvSpPr>
          <p:cNvPr id="10" name="Shape 8"/>
          <p:cNvSpPr/>
          <p:nvPr/>
        </p:nvSpPr>
        <p:spPr>
          <a:xfrm>
            <a:off x="411480" y="1499616"/>
            <a:ext cx="4069080" cy="1755648"/>
          </a:xfrm>
          <a:prstGeom prst="rect">
            <a:avLst/>
          </a:prstGeom>
          <a:solidFill>
            <a:srgbClr val="EEE8DC"/>
          </a:solidFill>
          <a:ln/>
          <a:effectLst>
            <a:outerShdw sx="100000" sy="100000" kx="0" ky="0" algn="bl" rotWithShape="0" blurRad="63500" dist="25400" dir="8100000">
              <a:srgbClr val="000000">
                <a:alpha val="10000"/>
              </a:srgbClr>
            </a:outerShdw>
          </a:effectLst>
        </p:spPr>
      </p:sp>
      <p:sp>
        <p:nvSpPr>
          <p:cNvPr id="11" name="Text 9"/>
          <p:cNvSpPr/>
          <p:nvPr/>
        </p:nvSpPr>
        <p:spPr>
          <a:xfrm>
            <a:off x="502920" y="1554480"/>
            <a:ext cx="2011680" cy="256032"/>
          </a:xfrm>
          <a:prstGeom prst="rect">
            <a:avLst/>
          </a:prstGeom>
          <a:noFill/>
          <a:ln/>
        </p:spPr>
        <p:txBody>
          <a:bodyPr wrap="square" rtlCol="0" anchor="ctr"/>
          <a:lstStyle/>
          <a:p>
            <a:pPr indent="0" marL="0">
              <a:buNone/>
            </a:pPr>
            <a:r>
              <a:rPr lang="en-US" sz="1000" b="1" dirty="0">
                <a:solidFill>
                  <a:srgbClr val="2C4A2E"/>
                </a:solidFill>
              </a:rPr>
              <a:t>Model</a:t>
            </a:r>
            <a:endParaRPr lang="en-US" sz="1000" dirty="0"/>
          </a:p>
        </p:txBody>
      </p:sp>
      <p:sp>
        <p:nvSpPr>
          <p:cNvPr id="12" name="Text 10"/>
          <p:cNvSpPr/>
          <p:nvPr/>
        </p:nvSpPr>
        <p:spPr>
          <a:xfrm>
            <a:off x="2606040" y="1554480"/>
            <a:ext cx="1371600" cy="256032"/>
          </a:xfrm>
          <a:prstGeom prst="rect">
            <a:avLst/>
          </a:prstGeom>
          <a:noFill/>
          <a:ln/>
        </p:spPr>
        <p:txBody>
          <a:bodyPr wrap="square" rtlCol="0" anchor="ctr"/>
          <a:lstStyle/>
          <a:p>
            <a:pPr indent="0" marL="0">
              <a:buNone/>
            </a:pPr>
            <a:r>
              <a:rPr lang="en-US" sz="1000" b="1" dirty="0">
                <a:solidFill>
                  <a:srgbClr val="2C4A2E"/>
                </a:solidFill>
              </a:rPr>
              <a:t>R² Score*</a:t>
            </a:r>
            <a:endParaRPr lang="en-US" sz="1000" dirty="0"/>
          </a:p>
        </p:txBody>
      </p:sp>
      <p:sp>
        <p:nvSpPr>
          <p:cNvPr id="13" name="Shape 11"/>
          <p:cNvSpPr/>
          <p:nvPr/>
        </p:nvSpPr>
        <p:spPr>
          <a:xfrm>
            <a:off x="438912" y="1847088"/>
            <a:ext cx="4005072" cy="292608"/>
          </a:xfrm>
          <a:prstGeom prst="rect">
            <a:avLst/>
          </a:prstGeom>
          <a:solidFill>
            <a:srgbClr val="D6EDD6"/>
          </a:solidFill>
          <a:ln/>
        </p:spPr>
      </p:sp>
      <p:sp>
        <p:nvSpPr>
          <p:cNvPr id="14" name="Text 12"/>
          <p:cNvSpPr/>
          <p:nvPr/>
        </p:nvSpPr>
        <p:spPr>
          <a:xfrm>
            <a:off x="502920" y="1847088"/>
            <a:ext cx="2011680" cy="292608"/>
          </a:xfrm>
          <a:prstGeom prst="rect">
            <a:avLst/>
          </a:prstGeom>
          <a:noFill/>
          <a:ln/>
        </p:spPr>
        <p:txBody>
          <a:bodyPr wrap="square" rtlCol="0" anchor="ctr"/>
          <a:lstStyle/>
          <a:p>
            <a:pPr indent="0" marL="0">
              <a:buNone/>
            </a:pPr>
            <a:r>
              <a:rPr lang="en-US" sz="1050" b="1" dirty="0">
                <a:solidFill>
                  <a:srgbClr val="2C4A2E"/>
                </a:solidFill>
              </a:rPr>
              <a:t>Linear Regression ★</a:t>
            </a:r>
            <a:endParaRPr lang="en-US" sz="1050" dirty="0"/>
          </a:p>
        </p:txBody>
      </p:sp>
      <p:sp>
        <p:nvSpPr>
          <p:cNvPr id="15" name="Text 13"/>
          <p:cNvSpPr/>
          <p:nvPr/>
        </p:nvSpPr>
        <p:spPr>
          <a:xfrm>
            <a:off x="2606040" y="1847088"/>
            <a:ext cx="1371600" cy="292608"/>
          </a:xfrm>
          <a:prstGeom prst="rect">
            <a:avLst/>
          </a:prstGeom>
          <a:noFill/>
          <a:ln/>
        </p:spPr>
        <p:txBody>
          <a:bodyPr wrap="square" rtlCol="0" anchor="ctr"/>
          <a:lstStyle/>
          <a:p>
            <a:pPr indent="0" marL="0">
              <a:buNone/>
            </a:pPr>
            <a:r>
              <a:rPr lang="en-US" sz="1050" b="1" dirty="0">
                <a:solidFill>
                  <a:srgbClr val="3D6B40"/>
                </a:solidFill>
              </a:rPr>
              <a:t>90.0% R²</a:t>
            </a:r>
            <a:endParaRPr lang="en-US" sz="1050" dirty="0"/>
          </a:p>
        </p:txBody>
      </p:sp>
      <p:sp>
        <p:nvSpPr>
          <p:cNvPr id="16" name="Text 14"/>
          <p:cNvSpPr/>
          <p:nvPr/>
        </p:nvSpPr>
        <p:spPr>
          <a:xfrm>
            <a:off x="502920" y="2176272"/>
            <a:ext cx="2011680" cy="292608"/>
          </a:xfrm>
          <a:prstGeom prst="rect">
            <a:avLst/>
          </a:prstGeom>
          <a:noFill/>
          <a:ln/>
        </p:spPr>
        <p:txBody>
          <a:bodyPr wrap="square" rtlCol="0" anchor="ctr"/>
          <a:lstStyle/>
          <a:p>
            <a:pPr indent="0" marL="0">
              <a:buNone/>
            </a:pPr>
            <a:r>
              <a:rPr lang="en-US" sz="1050" dirty="0">
                <a:solidFill>
                  <a:srgbClr val="2C4A2E"/>
                </a:solidFill>
              </a:rPr>
              <a:t>XGBoost</a:t>
            </a:r>
            <a:endParaRPr lang="en-US" sz="1050" dirty="0"/>
          </a:p>
        </p:txBody>
      </p:sp>
      <p:sp>
        <p:nvSpPr>
          <p:cNvPr id="17" name="Text 15"/>
          <p:cNvSpPr/>
          <p:nvPr/>
        </p:nvSpPr>
        <p:spPr>
          <a:xfrm>
            <a:off x="2606040" y="2176272"/>
            <a:ext cx="1371600" cy="292608"/>
          </a:xfrm>
          <a:prstGeom prst="rect">
            <a:avLst/>
          </a:prstGeom>
          <a:noFill/>
          <a:ln/>
        </p:spPr>
        <p:txBody>
          <a:bodyPr wrap="square" rtlCol="0" anchor="ctr"/>
          <a:lstStyle/>
          <a:p>
            <a:pPr indent="0" marL="0">
              <a:buNone/>
            </a:pPr>
            <a:r>
              <a:rPr lang="en-US" sz="1050" dirty="0">
                <a:solidFill>
                  <a:srgbClr val="2C4A2E"/>
                </a:solidFill>
              </a:rPr>
              <a:t>88.0% R²</a:t>
            </a:r>
            <a:endParaRPr lang="en-US" sz="1050" dirty="0"/>
          </a:p>
        </p:txBody>
      </p:sp>
      <p:sp>
        <p:nvSpPr>
          <p:cNvPr id="18" name="Text 16"/>
          <p:cNvSpPr/>
          <p:nvPr/>
        </p:nvSpPr>
        <p:spPr>
          <a:xfrm>
            <a:off x="502920" y="2505456"/>
            <a:ext cx="2011680" cy="292608"/>
          </a:xfrm>
          <a:prstGeom prst="rect">
            <a:avLst/>
          </a:prstGeom>
          <a:noFill/>
          <a:ln/>
        </p:spPr>
        <p:txBody>
          <a:bodyPr wrap="square" rtlCol="0" anchor="ctr"/>
          <a:lstStyle/>
          <a:p>
            <a:pPr indent="0" marL="0">
              <a:buNone/>
            </a:pPr>
            <a:r>
              <a:rPr lang="en-US" sz="1050" dirty="0">
                <a:solidFill>
                  <a:srgbClr val="2C4A2E"/>
                </a:solidFill>
              </a:rPr>
              <a:t>LightGBM</a:t>
            </a:r>
            <a:endParaRPr lang="en-US" sz="1050" dirty="0"/>
          </a:p>
        </p:txBody>
      </p:sp>
      <p:sp>
        <p:nvSpPr>
          <p:cNvPr id="19" name="Text 17"/>
          <p:cNvSpPr/>
          <p:nvPr/>
        </p:nvSpPr>
        <p:spPr>
          <a:xfrm>
            <a:off x="2606040" y="2505456"/>
            <a:ext cx="1371600" cy="292608"/>
          </a:xfrm>
          <a:prstGeom prst="rect">
            <a:avLst/>
          </a:prstGeom>
          <a:noFill/>
          <a:ln/>
        </p:spPr>
        <p:txBody>
          <a:bodyPr wrap="square" rtlCol="0" anchor="ctr"/>
          <a:lstStyle/>
          <a:p>
            <a:pPr indent="0" marL="0">
              <a:buNone/>
            </a:pPr>
            <a:r>
              <a:rPr lang="en-US" sz="1050" dirty="0">
                <a:solidFill>
                  <a:srgbClr val="2C4A2E"/>
                </a:solidFill>
              </a:rPr>
              <a:t>88.2% R²</a:t>
            </a:r>
            <a:endParaRPr lang="en-US" sz="1050" dirty="0"/>
          </a:p>
        </p:txBody>
      </p:sp>
      <p:sp>
        <p:nvSpPr>
          <p:cNvPr id="20" name="Text 18"/>
          <p:cNvSpPr/>
          <p:nvPr/>
        </p:nvSpPr>
        <p:spPr>
          <a:xfrm>
            <a:off x="502920" y="2834640"/>
            <a:ext cx="2011680" cy="292608"/>
          </a:xfrm>
          <a:prstGeom prst="rect">
            <a:avLst/>
          </a:prstGeom>
          <a:noFill/>
          <a:ln/>
        </p:spPr>
        <p:txBody>
          <a:bodyPr wrap="square" rtlCol="0" anchor="ctr"/>
          <a:lstStyle/>
          <a:p>
            <a:pPr indent="0" marL="0">
              <a:buNone/>
            </a:pPr>
            <a:r>
              <a:rPr lang="en-US" sz="1050" dirty="0">
                <a:solidFill>
                  <a:srgbClr val="2C4A2E"/>
                </a:solidFill>
              </a:rPr>
              <a:t>Random Forest</a:t>
            </a:r>
            <a:endParaRPr lang="en-US" sz="1050" dirty="0"/>
          </a:p>
        </p:txBody>
      </p:sp>
      <p:sp>
        <p:nvSpPr>
          <p:cNvPr id="21" name="Text 19"/>
          <p:cNvSpPr/>
          <p:nvPr/>
        </p:nvSpPr>
        <p:spPr>
          <a:xfrm>
            <a:off x="2606040" y="2834640"/>
            <a:ext cx="1371600" cy="292608"/>
          </a:xfrm>
          <a:prstGeom prst="rect">
            <a:avLst/>
          </a:prstGeom>
          <a:noFill/>
          <a:ln/>
        </p:spPr>
        <p:txBody>
          <a:bodyPr wrap="square" rtlCol="0" anchor="ctr"/>
          <a:lstStyle/>
          <a:p>
            <a:pPr indent="0" marL="0">
              <a:buNone/>
            </a:pPr>
            <a:r>
              <a:rPr lang="en-US" sz="1050" dirty="0">
                <a:solidFill>
                  <a:srgbClr val="2C4A2E"/>
                </a:solidFill>
              </a:rPr>
              <a:t>88.1% R²</a:t>
            </a:r>
            <a:endParaRPr lang="en-US" sz="1050" dirty="0"/>
          </a:p>
        </p:txBody>
      </p:sp>
      <p:sp>
        <p:nvSpPr>
          <p:cNvPr id="22" name="Text 20"/>
          <p:cNvSpPr/>
          <p:nvPr/>
        </p:nvSpPr>
        <p:spPr>
          <a:xfrm>
            <a:off x="438912" y="3273552"/>
            <a:ext cx="3931920" cy="256032"/>
          </a:xfrm>
          <a:prstGeom prst="rect">
            <a:avLst/>
          </a:prstGeom>
          <a:noFill/>
          <a:ln/>
        </p:spPr>
        <p:txBody>
          <a:bodyPr wrap="square" rtlCol="0" anchor="ctr"/>
          <a:lstStyle/>
          <a:p>
            <a:pPr indent="0" marL="0">
              <a:buNone/>
            </a:pPr>
            <a:r>
              <a:rPr lang="en-US" sz="900" i="1" dirty="0">
                <a:solidFill>
                  <a:srgbClr val="6B7280"/>
                </a:solidFill>
              </a:rPr>
              <a:t>*R² = how much of the variation in scores our model explains. 90% is strong.</a:t>
            </a:r>
            <a:endParaRPr lang="en-US" sz="900" dirty="0"/>
          </a:p>
        </p:txBody>
      </p:sp>
      <p:sp>
        <p:nvSpPr>
          <p:cNvPr id="23" name="Shape 21"/>
          <p:cNvSpPr/>
          <p:nvPr/>
        </p:nvSpPr>
        <p:spPr>
          <a:xfrm>
            <a:off x="4617720" y="1170432"/>
            <a:ext cx="4069080" cy="329184"/>
          </a:xfrm>
          <a:prstGeom prst="rect">
            <a:avLst/>
          </a:prstGeom>
          <a:solidFill>
            <a:srgbClr val="3D6B40"/>
          </a:solidFill>
          <a:ln/>
        </p:spPr>
      </p:sp>
      <p:sp>
        <p:nvSpPr>
          <p:cNvPr id="24" name="Text 22"/>
          <p:cNvSpPr/>
          <p:nvPr/>
        </p:nvSpPr>
        <p:spPr>
          <a:xfrm>
            <a:off x="4709160" y="1170432"/>
            <a:ext cx="3931920" cy="329184"/>
          </a:xfrm>
          <a:prstGeom prst="rect">
            <a:avLst/>
          </a:prstGeom>
          <a:noFill/>
          <a:ln/>
        </p:spPr>
        <p:txBody>
          <a:bodyPr wrap="square" lIns="0" tIns="0" rIns="0" bIns="0" rtlCol="0" anchor="ctr"/>
          <a:lstStyle/>
          <a:p>
            <a:pPr indent="0" marL="0">
              <a:buNone/>
            </a:pPr>
            <a:r>
              <a:rPr lang="en-US" sz="1100" b="1" dirty="0">
                <a:solidFill>
                  <a:srgbClr val="FFFFFF"/>
                </a:solidFill>
              </a:rPr>
              <a:t>Task B: Predicting the Grade Band (A/B/C/D/F)</a:t>
            </a:r>
            <a:endParaRPr lang="en-US" sz="1100" dirty="0"/>
          </a:p>
        </p:txBody>
      </p:sp>
      <p:sp>
        <p:nvSpPr>
          <p:cNvPr id="25" name="Shape 23"/>
          <p:cNvSpPr/>
          <p:nvPr/>
        </p:nvSpPr>
        <p:spPr>
          <a:xfrm>
            <a:off x="4617720" y="1499616"/>
            <a:ext cx="4069080" cy="1755648"/>
          </a:xfrm>
          <a:prstGeom prst="rect">
            <a:avLst/>
          </a:prstGeom>
          <a:solidFill>
            <a:srgbClr val="EEE8DC"/>
          </a:solidFill>
          <a:ln/>
          <a:effectLst>
            <a:outerShdw sx="100000" sy="100000" kx="0" ky="0" algn="bl" rotWithShape="0" blurRad="63500" dist="25400" dir="8100000">
              <a:srgbClr val="000000">
                <a:alpha val="10000"/>
              </a:srgbClr>
            </a:outerShdw>
          </a:effectLst>
        </p:spPr>
      </p:sp>
      <p:sp>
        <p:nvSpPr>
          <p:cNvPr id="26" name="Text 24"/>
          <p:cNvSpPr/>
          <p:nvPr/>
        </p:nvSpPr>
        <p:spPr>
          <a:xfrm>
            <a:off x="4709160" y="1554480"/>
            <a:ext cx="2194560" cy="256032"/>
          </a:xfrm>
          <a:prstGeom prst="rect">
            <a:avLst/>
          </a:prstGeom>
          <a:noFill/>
          <a:ln/>
        </p:spPr>
        <p:txBody>
          <a:bodyPr wrap="square" rtlCol="0" anchor="ctr"/>
          <a:lstStyle/>
          <a:p>
            <a:pPr indent="0" marL="0">
              <a:buNone/>
            </a:pPr>
            <a:r>
              <a:rPr lang="en-US" sz="1000" b="1" dirty="0">
                <a:solidFill>
                  <a:srgbClr val="2C4A2E"/>
                </a:solidFill>
              </a:rPr>
              <a:t>Model</a:t>
            </a:r>
            <a:endParaRPr lang="en-US" sz="1000" dirty="0"/>
          </a:p>
        </p:txBody>
      </p:sp>
      <p:sp>
        <p:nvSpPr>
          <p:cNvPr id="27" name="Text 25"/>
          <p:cNvSpPr/>
          <p:nvPr/>
        </p:nvSpPr>
        <p:spPr>
          <a:xfrm>
            <a:off x="6995160" y="1554480"/>
            <a:ext cx="1463040" cy="256032"/>
          </a:xfrm>
          <a:prstGeom prst="rect">
            <a:avLst/>
          </a:prstGeom>
          <a:noFill/>
          <a:ln/>
        </p:spPr>
        <p:txBody>
          <a:bodyPr wrap="square" rtlCol="0" anchor="ctr"/>
          <a:lstStyle/>
          <a:p>
            <a:pPr indent="0" marL="0">
              <a:buNone/>
            </a:pPr>
            <a:r>
              <a:rPr lang="en-US" sz="1000" b="1" dirty="0">
                <a:solidFill>
                  <a:srgbClr val="2C4A2E"/>
                </a:solidFill>
              </a:rPr>
              <a:t>Accuracy</a:t>
            </a:r>
            <a:endParaRPr lang="en-US" sz="1000" dirty="0"/>
          </a:p>
        </p:txBody>
      </p:sp>
      <p:sp>
        <p:nvSpPr>
          <p:cNvPr id="28" name="Shape 26"/>
          <p:cNvSpPr/>
          <p:nvPr/>
        </p:nvSpPr>
        <p:spPr>
          <a:xfrm>
            <a:off x="4645152" y="1847088"/>
            <a:ext cx="4005072" cy="292608"/>
          </a:xfrm>
          <a:prstGeom prst="rect">
            <a:avLst/>
          </a:prstGeom>
          <a:solidFill>
            <a:srgbClr val="D6EDD6"/>
          </a:solidFill>
          <a:ln/>
        </p:spPr>
      </p:sp>
      <p:sp>
        <p:nvSpPr>
          <p:cNvPr id="29" name="Text 27"/>
          <p:cNvSpPr/>
          <p:nvPr/>
        </p:nvSpPr>
        <p:spPr>
          <a:xfrm>
            <a:off x="4709160" y="1847088"/>
            <a:ext cx="2194560" cy="292608"/>
          </a:xfrm>
          <a:prstGeom prst="rect">
            <a:avLst/>
          </a:prstGeom>
          <a:noFill/>
          <a:ln/>
        </p:spPr>
        <p:txBody>
          <a:bodyPr wrap="square" rtlCol="0" anchor="ctr"/>
          <a:lstStyle/>
          <a:p>
            <a:pPr indent="0" marL="0">
              <a:buNone/>
            </a:pPr>
            <a:r>
              <a:rPr lang="en-US" sz="1050" b="1" dirty="0">
                <a:solidFill>
                  <a:srgbClr val="2C4A2E"/>
                </a:solidFill>
              </a:rPr>
              <a:t>Random Forest ★</a:t>
            </a:r>
            <a:endParaRPr lang="en-US" sz="1050" dirty="0"/>
          </a:p>
        </p:txBody>
      </p:sp>
      <p:sp>
        <p:nvSpPr>
          <p:cNvPr id="30" name="Text 28"/>
          <p:cNvSpPr/>
          <p:nvPr/>
        </p:nvSpPr>
        <p:spPr>
          <a:xfrm>
            <a:off x="6995160" y="1847088"/>
            <a:ext cx="1463040" cy="292608"/>
          </a:xfrm>
          <a:prstGeom prst="rect">
            <a:avLst/>
          </a:prstGeom>
          <a:noFill/>
          <a:ln/>
        </p:spPr>
        <p:txBody>
          <a:bodyPr wrap="square" rtlCol="0" anchor="ctr"/>
          <a:lstStyle/>
          <a:p>
            <a:pPr indent="0" marL="0">
              <a:buNone/>
            </a:pPr>
            <a:r>
              <a:rPr lang="en-US" sz="1050" b="1" dirty="0">
                <a:solidFill>
                  <a:srgbClr val="3D6B40"/>
                </a:solidFill>
              </a:rPr>
              <a:t>64.0%</a:t>
            </a:r>
            <a:endParaRPr lang="en-US" sz="1050" dirty="0"/>
          </a:p>
        </p:txBody>
      </p:sp>
      <p:sp>
        <p:nvSpPr>
          <p:cNvPr id="31" name="Text 29"/>
          <p:cNvSpPr/>
          <p:nvPr/>
        </p:nvSpPr>
        <p:spPr>
          <a:xfrm>
            <a:off x="4709160" y="2176272"/>
            <a:ext cx="2194560" cy="292608"/>
          </a:xfrm>
          <a:prstGeom prst="rect">
            <a:avLst/>
          </a:prstGeom>
          <a:noFill/>
          <a:ln/>
        </p:spPr>
        <p:txBody>
          <a:bodyPr wrap="square" rtlCol="0" anchor="ctr"/>
          <a:lstStyle/>
          <a:p>
            <a:pPr indent="0" marL="0">
              <a:buNone/>
            </a:pPr>
            <a:r>
              <a:rPr lang="en-US" sz="1050" dirty="0">
                <a:solidFill>
                  <a:srgbClr val="2C4A2E"/>
                </a:solidFill>
              </a:rPr>
              <a:t>LightGBM</a:t>
            </a:r>
            <a:endParaRPr lang="en-US" sz="1050" dirty="0"/>
          </a:p>
        </p:txBody>
      </p:sp>
      <p:sp>
        <p:nvSpPr>
          <p:cNvPr id="32" name="Text 30"/>
          <p:cNvSpPr/>
          <p:nvPr/>
        </p:nvSpPr>
        <p:spPr>
          <a:xfrm>
            <a:off x="6995160" y="2176272"/>
            <a:ext cx="1463040" cy="292608"/>
          </a:xfrm>
          <a:prstGeom prst="rect">
            <a:avLst/>
          </a:prstGeom>
          <a:noFill/>
          <a:ln/>
        </p:spPr>
        <p:txBody>
          <a:bodyPr wrap="square" rtlCol="0" anchor="ctr"/>
          <a:lstStyle/>
          <a:p>
            <a:pPr indent="0" marL="0">
              <a:buNone/>
            </a:pPr>
            <a:r>
              <a:rPr lang="en-US" sz="1050" dirty="0">
                <a:solidFill>
                  <a:srgbClr val="2C4A2E"/>
                </a:solidFill>
              </a:rPr>
              <a:t>62.5%</a:t>
            </a:r>
            <a:endParaRPr lang="en-US" sz="1050" dirty="0"/>
          </a:p>
        </p:txBody>
      </p:sp>
      <p:sp>
        <p:nvSpPr>
          <p:cNvPr id="33" name="Text 31"/>
          <p:cNvSpPr/>
          <p:nvPr/>
        </p:nvSpPr>
        <p:spPr>
          <a:xfrm>
            <a:off x="4709160" y="2505456"/>
            <a:ext cx="2194560" cy="292608"/>
          </a:xfrm>
          <a:prstGeom prst="rect">
            <a:avLst/>
          </a:prstGeom>
          <a:noFill/>
          <a:ln/>
        </p:spPr>
        <p:txBody>
          <a:bodyPr wrap="square" rtlCol="0" anchor="ctr"/>
          <a:lstStyle/>
          <a:p>
            <a:pPr indent="0" marL="0">
              <a:buNone/>
            </a:pPr>
            <a:r>
              <a:rPr lang="en-US" sz="1050" dirty="0">
                <a:solidFill>
                  <a:srgbClr val="2C4A2E"/>
                </a:solidFill>
              </a:rPr>
              <a:t>XGBoost</a:t>
            </a:r>
            <a:endParaRPr lang="en-US" sz="1050" dirty="0"/>
          </a:p>
        </p:txBody>
      </p:sp>
      <p:sp>
        <p:nvSpPr>
          <p:cNvPr id="34" name="Text 32"/>
          <p:cNvSpPr/>
          <p:nvPr/>
        </p:nvSpPr>
        <p:spPr>
          <a:xfrm>
            <a:off x="6995160" y="2505456"/>
            <a:ext cx="1463040" cy="292608"/>
          </a:xfrm>
          <a:prstGeom prst="rect">
            <a:avLst/>
          </a:prstGeom>
          <a:noFill/>
          <a:ln/>
        </p:spPr>
        <p:txBody>
          <a:bodyPr wrap="square" rtlCol="0" anchor="ctr"/>
          <a:lstStyle/>
          <a:p>
            <a:pPr indent="0" marL="0">
              <a:buNone/>
            </a:pPr>
            <a:r>
              <a:rPr lang="en-US" sz="1050" dirty="0">
                <a:solidFill>
                  <a:srgbClr val="2C4A2E"/>
                </a:solidFill>
              </a:rPr>
              <a:t>62.0%</a:t>
            </a:r>
            <a:endParaRPr lang="en-US" sz="1050" dirty="0"/>
          </a:p>
        </p:txBody>
      </p:sp>
      <p:sp>
        <p:nvSpPr>
          <p:cNvPr id="35" name="Text 33"/>
          <p:cNvSpPr/>
          <p:nvPr/>
        </p:nvSpPr>
        <p:spPr>
          <a:xfrm>
            <a:off x="4709160" y="2834640"/>
            <a:ext cx="2194560" cy="292608"/>
          </a:xfrm>
          <a:prstGeom prst="rect">
            <a:avLst/>
          </a:prstGeom>
          <a:noFill/>
          <a:ln/>
        </p:spPr>
        <p:txBody>
          <a:bodyPr wrap="square" rtlCol="0" anchor="ctr"/>
          <a:lstStyle/>
          <a:p>
            <a:pPr indent="0" marL="0">
              <a:buNone/>
            </a:pPr>
            <a:r>
              <a:rPr lang="en-US" sz="1050" dirty="0">
                <a:solidFill>
                  <a:srgbClr val="2C4A2E"/>
                </a:solidFill>
              </a:rPr>
              <a:t>Gradient Boosting</a:t>
            </a:r>
            <a:endParaRPr lang="en-US" sz="1050" dirty="0"/>
          </a:p>
        </p:txBody>
      </p:sp>
      <p:sp>
        <p:nvSpPr>
          <p:cNvPr id="36" name="Text 34"/>
          <p:cNvSpPr/>
          <p:nvPr/>
        </p:nvSpPr>
        <p:spPr>
          <a:xfrm>
            <a:off x="6995160" y="2834640"/>
            <a:ext cx="1463040" cy="292608"/>
          </a:xfrm>
          <a:prstGeom prst="rect">
            <a:avLst/>
          </a:prstGeom>
          <a:noFill/>
          <a:ln/>
        </p:spPr>
        <p:txBody>
          <a:bodyPr wrap="square" rtlCol="0" anchor="ctr"/>
          <a:lstStyle/>
          <a:p>
            <a:pPr indent="0" marL="0">
              <a:buNone/>
            </a:pPr>
            <a:r>
              <a:rPr lang="en-US" sz="1050" dirty="0">
                <a:solidFill>
                  <a:srgbClr val="2C4A2E"/>
                </a:solidFill>
              </a:rPr>
              <a:t>61.5%</a:t>
            </a:r>
            <a:endParaRPr lang="en-US" sz="1050" dirty="0"/>
          </a:p>
        </p:txBody>
      </p:sp>
      <p:sp>
        <p:nvSpPr>
          <p:cNvPr id="37" name="Text 35"/>
          <p:cNvSpPr/>
          <p:nvPr/>
        </p:nvSpPr>
        <p:spPr>
          <a:xfrm>
            <a:off x="4645152" y="3273552"/>
            <a:ext cx="3931920" cy="256032"/>
          </a:xfrm>
          <a:prstGeom prst="rect">
            <a:avLst/>
          </a:prstGeom>
          <a:noFill/>
          <a:ln/>
        </p:spPr>
        <p:txBody>
          <a:bodyPr wrap="square" rtlCol="0" anchor="ctr"/>
          <a:lstStyle/>
          <a:p>
            <a:pPr indent="0" marL="0">
              <a:buNone/>
            </a:pPr>
            <a:r>
              <a:rPr lang="en-US" sz="900" i="1" dirty="0">
                <a:solidFill>
                  <a:srgbClr val="6B7280"/>
                </a:solidFill>
              </a:rPr>
              <a:t>After SMOTE, cross-validation accuracy reached 75.8% ± 2.3% for Random Forest.</a:t>
            </a:r>
            <a:endParaRPr lang="en-US" sz="900" dirty="0"/>
          </a:p>
        </p:txBody>
      </p:sp>
      <p:sp>
        <p:nvSpPr>
          <p:cNvPr id="38" name="Shape 36"/>
          <p:cNvSpPr/>
          <p:nvPr/>
        </p:nvSpPr>
        <p:spPr>
          <a:xfrm>
            <a:off x="411480" y="3611880"/>
            <a:ext cx="8321040" cy="329184"/>
          </a:xfrm>
          <a:prstGeom prst="rect">
            <a:avLst/>
          </a:prstGeom>
          <a:solidFill>
            <a:srgbClr val="2C4A2E"/>
          </a:solidFill>
          <a:ln/>
        </p:spPr>
      </p:sp>
      <p:sp>
        <p:nvSpPr>
          <p:cNvPr id="39" name="Text 37"/>
          <p:cNvSpPr/>
          <p:nvPr/>
        </p:nvSpPr>
        <p:spPr>
          <a:xfrm>
            <a:off x="502920" y="3611880"/>
            <a:ext cx="8229600" cy="329184"/>
          </a:xfrm>
          <a:prstGeom prst="rect">
            <a:avLst/>
          </a:prstGeom>
          <a:noFill/>
          <a:ln/>
        </p:spPr>
        <p:txBody>
          <a:bodyPr wrap="square" lIns="0" tIns="0" rIns="0" bIns="0" rtlCol="0" anchor="ctr"/>
          <a:lstStyle/>
          <a:p>
            <a:pPr indent="0" marL="0">
              <a:buNone/>
            </a:pPr>
            <a:r>
              <a:rPr lang="en-US" sz="1200" b="1" dirty="0">
                <a:solidFill>
                  <a:srgbClr val="FFFFFF"/>
                </a:solidFill>
              </a:rPr>
              <a:t>What SHAP Told Us (Explainability)</a:t>
            </a:r>
            <a:endParaRPr lang="en-US" sz="1200" dirty="0"/>
          </a:p>
        </p:txBody>
      </p:sp>
      <p:sp>
        <p:nvSpPr>
          <p:cNvPr id="40" name="Shape 38"/>
          <p:cNvSpPr/>
          <p:nvPr/>
        </p:nvSpPr>
        <p:spPr>
          <a:xfrm>
            <a:off x="411480" y="3941064"/>
            <a:ext cx="8321040" cy="841248"/>
          </a:xfrm>
          <a:prstGeom prst="rect">
            <a:avLst/>
          </a:prstGeom>
          <a:solidFill>
            <a:srgbClr val="EEE8DC"/>
          </a:solidFill>
          <a:ln/>
          <a:effectLst>
            <a:outerShdw sx="100000" sy="100000" kx="0" ky="0" algn="bl" rotWithShape="0" blurRad="63500" dist="25400" dir="8100000">
              <a:srgbClr val="000000">
                <a:alpha val="10000"/>
              </a:srgbClr>
            </a:outerShdw>
          </a:effectLst>
        </p:spPr>
      </p:sp>
      <p:sp>
        <p:nvSpPr>
          <p:cNvPr id="41" name="Text 39"/>
          <p:cNvSpPr/>
          <p:nvPr/>
        </p:nvSpPr>
        <p:spPr>
          <a:xfrm>
            <a:off x="548640" y="4005072"/>
            <a:ext cx="8046720" cy="713232"/>
          </a:xfrm>
          <a:prstGeom prst="rect">
            <a:avLst/>
          </a:prstGeom>
          <a:noFill/>
          <a:ln/>
        </p:spPr>
        <p:txBody>
          <a:bodyPr wrap="square" rtlCol="0" anchor="ctr"/>
          <a:lstStyle/>
          <a:p>
            <a:pPr indent="0" marL="0">
              <a:lnSpc>
                <a:spcPct val="132000"/>
              </a:lnSpc>
              <a:buNone/>
            </a:pPr>
            <a:r>
              <a:rPr lang="en-US" sz="1150" b="1" dirty="0">
                <a:solidFill>
                  <a:srgbClr val="2C4A2E"/>
                </a:solidFill>
              </a:rPr>
              <a:t>Top predictors of exam score: </a:t>
            </a:r>
            <a:pPr indent="0" marL="0">
              <a:lnSpc>
                <a:spcPct val="132000"/>
              </a:lnSpc>
              <a:buNone/>
            </a:pPr>
            <a:r>
              <a:rPr lang="en-US" sz="1150" dirty="0">
                <a:solidFill>
                  <a:srgbClr val="2C4A2E"/>
                </a:solidFill>
              </a:rPr>
              <a:t>study hours per day, attendance, and our engineered productivity ratio were the strongest signals. </a:t>
            </a:r>
            <a:pPr indent="0" marL="0">
              <a:lnSpc>
                <a:spcPct val="132000"/>
              </a:lnSpc>
              <a:buNone/>
            </a:pPr>
            <a:r>
              <a:rPr lang="en-US" sz="1150" b="1" dirty="0">
                <a:solidFill>
                  <a:srgbClr val="3D6B40"/>
                </a:solidFill>
              </a:rPr>
              <a:t>Part-time job status</a:t>
            </a:r>
            <a:pPr indent="0" marL="0">
              <a:lnSpc>
                <a:spcPct val="132000"/>
              </a:lnSpc>
              <a:buNone/>
            </a:pPr>
            <a:r>
              <a:rPr lang="en-US" sz="1150" dirty="0">
                <a:solidFill>
                  <a:srgbClr val="2C4A2E"/>
                </a:solidFill>
              </a:rPr>
              <a:t> had a measurable negative effect on predicted scores when combined with high distraction index and low wellness scores — exactly what our hypothesis expected.</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0" y="0"/>
            <a:ext cx="2286000" cy="329184"/>
          </a:xfrm>
          <a:prstGeom prst="rect">
            <a:avLst/>
          </a:prstGeom>
          <a:solidFill>
            <a:srgbClr val="2C4A2E"/>
          </a:solidFill>
          <a:ln/>
        </p:spPr>
      </p:sp>
      <p:sp>
        <p:nvSpPr>
          <p:cNvPr id="3" name="Text 1"/>
          <p:cNvSpPr/>
          <p:nvPr/>
        </p:nvSpPr>
        <p:spPr>
          <a:xfrm>
            <a:off x="109728" y="36576"/>
            <a:ext cx="2103120" cy="256032"/>
          </a:xfrm>
          <a:prstGeom prst="rect">
            <a:avLst/>
          </a:prstGeom>
          <a:noFill/>
          <a:ln/>
        </p:spPr>
        <p:txBody>
          <a:bodyPr wrap="square" lIns="0" tIns="0" rIns="0" bIns="0" rtlCol="0" anchor="ctr"/>
          <a:lstStyle/>
          <a:p>
            <a:pPr indent="0" marL="0">
              <a:buNone/>
            </a:pPr>
            <a:r>
              <a:rPr lang="en-US" sz="900" dirty="0">
                <a:solidFill>
                  <a:srgbClr val="FFFFFF"/>
                </a:solidFill>
              </a:rPr>
              <a:t>DS340W | Spring 2026</a:t>
            </a:r>
            <a:endParaRPr lang="en-US" sz="900" dirty="0"/>
          </a:p>
        </p:txBody>
      </p:sp>
      <p:sp>
        <p:nvSpPr>
          <p:cNvPr id="4" name="Shape 2"/>
          <p:cNvSpPr/>
          <p:nvPr/>
        </p:nvSpPr>
        <p:spPr>
          <a:xfrm>
            <a:off x="0" y="4873752"/>
            <a:ext cx="1280160" cy="274320"/>
          </a:xfrm>
          <a:prstGeom prst="rect">
            <a:avLst/>
          </a:prstGeom>
          <a:solidFill>
            <a:srgbClr val="2C4A2E"/>
          </a:solidFill>
          <a:ln/>
        </p:spPr>
      </p:sp>
      <p:sp>
        <p:nvSpPr>
          <p:cNvPr id="5" name="Shape 3"/>
          <p:cNvSpPr/>
          <p:nvPr/>
        </p:nvSpPr>
        <p:spPr>
          <a:xfrm>
            <a:off x="1371600" y="4873752"/>
            <a:ext cx="7772400" cy="274320"/>
          </a:xfrm>
          <a:prstGeom prst="rect">
            <a:avLst/>
          </a:prstGeom>
          <a:solidFill>
            <a:srgbClr val="3D6B40"/>
          </a:solidFill>
          <a:ln/>
        </p:spPr>
      </p:sp>
      <p:sp>
        <p:nvSpPr>
          <p:cNvPr id="6" name="Text 4"/>
          <p:cNvSpPr/>
          <p:nvPr/>
        </p:nvSpPr>
        <p:spPr>
          <a:xfrm>
            <a:off x="8412480" y="73152"/>
            <a:ext cx="685800" cy="384048"/>
          </a:xfrm>
          <a:prstGeom prst="rect">
            <a:avLst/>
          </a:prstGeom>
          <a:noFill/>
          <a:ln/>
        </p:spPr>
        <p:txBody>
          <a:bodyPr wrap="square" lIns="0" tIns="0" rIns="0" bIns="0" rtlCol="0" anchor="ctr"/>
          <a:lstStyle/>
          <a:p>
            <a:pPr algn="r" indent="0" marL="0">
              <a:buNone/>
            </a:pPr>
            <a:r>
              <a:rPr lang="en-US" sz="2000" b="1" dirty="0">
                <a:solidFill>
                  <a:srgbClr val="2C4A2E"/>
                </a:solidFill>
              </a:rPr>
              <a:t>10</a:t>
            </a:r>
            <a:endParaRPr lang="en-US" sz="2000" dirty="0"/>
          </a:p>
        </p:txBody>
      </p:sp>
      <p:sp>
        <p:nvSpPr>
          <p:cNvPr id="7" name="Text 5"/>
          <p:cNvSpPr/>
          <p:nvPr/>
        </p:nvSpPr>
        <p:spPr>
          <a:xfrm>
            <a:off x="457200" y="457200"/>
            <a:ext cx="8229600" cy="658368"/>
          </a:xfrm>
          <a:prstGeom prst="rect">
            <a:avLst/>
          </a:prstGeom>
          <a:noFill/>
          <a:ln/>
        </p:spPr>
        <p:txBody>
          <a:bodyPr wrap="square" rtlCol="0" anchor="ctr"/>
          <a:lstStyle/>
          <a:p>
            <a:pPr algn="ctr" indent="0" marL="0">
              <a:buNone/>
            </a:pPr>
            <a:r>
              <a:rPr lang="en-US" sz="3400" dirty="0">
                <a:solidFill>
                  <a:srgbClr val="2C4A2E"/>
                </a:solidFill>
                <a:latin typeface="Georgia" pitchFamily="34" charset="0"/>
                <a:ea typeface="Georgia" pitchFamily="34" charset="-122"/>
                <a:cs typeface="Georgia" pitchFamily="34" charset="-120"/>
              </a:rPr>
              <a:t>What Do These Numbers Mean?</a:t>
            </a:r>
            <a:endParaRPr lang="en-US" sz="3400" dirty="0"/>
          </a:p>
        </p:txBody>
      </p:sp>
      <p:sp>
        <p:nvSpPr>
          <p:cNvPr id="8" name="Text 6"/>
          <p:cNvSpPr/>
          <p:nvPr/>
        </p:nvSpPr>
        <p:spPr>
          <a:xfrm>
            <a:off x="457200" y="1188720"/>
            <a:ext cx="8229600" cy="384048"/>
          </a:xfrm>
          <a:prstGeom prst="rect">
            <a:avLst/>
          </a:prstGeom>
          <a:noFill/>
          <a:ln/>
        </p:spPr>
        <p:txBody>
          <a:bodyPr wrap="square" rtlCol="0" anchor="ctr"/>
          <a:lstStyle/>
          <a:p>
            <a:pPr algn="ctr" indent="0" marL="0">
              <a:buNone/>
            </a:pPr>
            <a:r>
              <a:rPr lang="en-US" sz="1200" dirty="0">
                <a:solidFill>
                  <a:srgbClr val="2C4A2E"/>
                </a:solidFill>
              </a:rPr>
              <a:t>Our classification accuracy (64%) is lower than the parent paper (92%). Here's why that's expected — and what it tells us:</a:t>
            </a:r>
            <a:endParaRPr lang="en-US" sz="1200" dirty="0"/>
          </a:p>
        </p:txBody>
      </p:sp>
      <p:sp>
        <p:nvSpPr>
          <p:cNvPr id="9" name="Shape 7"/>
          <p:cNvSpPr/>
          <p:nvPr/>
        </p:nvSpPr>
        <p:spPr>
          <a:xfrm>
            <a:off x="411480" y="1719072"/>
            <a:ext cx="4096512" cy="329184"/>
          </a:xfrm>
          <a:prstGeom prst="rect">
            <a:avLst/>
          </a:prstGeom>
          <a:solidFill>
            <a:srgbClr val="2C4A2E"/>
          </a:solidFill>
          <a:ln/>
        </p:spPr>
      </p:sp>
      <p:sp>
        <p:nvSpPr>
          <p:cNvPr id="10" name="Text 8"/>
          <p:cNvSpPr/>
          <p:nvPr/>
        </p:nvSpPr>
        <p:spPr>
          <a:xfrm>
            <a:off x="502920" y="1719072"/>
            <a:ext cx="3913632" cy="329184"/>
          </a:xfrm>
          <a:prstGeom prst="rect">
            <a:avLst/>
          </a:prstGeom>
          <a:noFill/>
          <a:ln/>
        </p:spPr>
        <p:txBody>
          <a:bodyPr wrap="square" lIns="0" tIns="0" rIns="0" bIns="0" rtlCol="0" anchor="ctr"/>
          <a:lstStyle/>
          <a:p>
            <a:pPr indent="0" marL="0">
              <a:buNone/>
            </a:pPr>
            <a:r>
              <a:rPr lang="en-US" sz="1200" b="1" dirty="0">
                <a:solidFill>
                  <a:srgbClr val="FFFFFF"/>
                </a:solidFill>
              </a:rPr>
              <a:t>Different problem</a:t>
            </a:r>
            <a:endParaRPr lang="en-US" sz="1200" dirty="0"/>
          </a:p>
        </p:txBody>
      </p:sp>
      <p:sp>
        <p:nvSpPr>
          <p:cNvPr id="11" name="Shape 9"/>
          <p:cNvSpPr/>
          <p:nvPr/>
        </p:nvSpPr>
        <p:spPr>
          <a:xfrm>
            <a:off x="411480" y="2048256"/>
            <a:ext cx="4096512" cy="1042416"/>
          </a:xfrm>
          <a:prstGeom prst="rect">
            <a:avLst/>
          </a:prstGeom>
          <a:solidFill>
            <a:srgbClr val="EEE8DC"/>
          </a:solidFill>
          <a:ln/>
          <a:effectLst>
            <a:outerShdw sx="100000" sy="100000" kx="0" ky="0" algn="bl" rotWithShape="0" blurRad="63500" dist="25400" dir="8100000">
              <a:srgbClr val="000000">
                <a:alpha val="10000"/>
              </a:srgbClr>
            </a:outerShdw>
          </a:effectLst>
        </p:spPr>
      </p:sp>
      <p:sp>
        <p:nvSpPr>
          <p:cNvPr id="12" name="Text 10"/>
          <p:cNvSpPr/>
          <p:nvPr/>
        </p:nvSpPr>
        <p:spPr>
          <a:xfrm>
            <a:off x="548640" y="2121408"/>
            <a:ext cx="3822192" cy="914400"/>
          </a:xfrm>
          <a:prstGeom prst="rect">
            <a:avLst/>
          </a:prstGeom>
          <a:noFill/>
          <a:ln/>
        </p:spPr>
        <p:txBody>
          <a:bodyPr wrap="square" rtlCol="0" anchor="ctr"/>
          <a:lstStyle/>
          <a:p>
            <a:pPr indent="0" marL="0">
              <a:lnSpc>
                <a:spcPct val="130000"/>
              </a:lnSpc>
              <a:buNone/>
            </a:pPr>
            <a:r>
              <a:rPr lang="en-US" sz="1100" dirty="0">
                <a:solidFill>
                  <a:srgbClr val="2C4A2E"/>
                </a:solidFill>
              </a:rPr>
              <a:t>The parent paper predicts grades for one specific school — our dataset covers students from many different backgrounds, making it harder. A general model is always less accurate than a narrow one.</a:t>
            </a:r>
            <a:endParaRPr lang="en-US" sz="1100" dirty="0"/>
          </a:p>
        </p:txBody>
      </p:sp>
      <p:sp>
        <p:nvSpPr>
          <p:cNvPr id="13" name="Shape 11"/>
          <p:cNvSpPr/>
          <p:nvPr/>
        </p:nvSpPr>
        <p:spPr>
          <a:xfrm>
            <a:off x="411480" y="3182112"/>
            <a:ext cx="4096512" cy="329184"/>
          </a:xfrm>
          <a:prstGeom prst="rect">
            <a:avLst/>
          </a:prstGeom>
          <a:solidFill>
            <a:srgbClr val="2C4A2E"/>
          </a:solidFill>
          <a:ln/>
        </p:spPr>
      </p:sp>
      <p:sp>
        <p:nvSpPr>
          <p:cNvPr id="14" name="Text 12"/>
          <p:cNvSpPr/>
          <p:nvPr/>
        </p:nvSpPr>
        <p:spPr>
          <a:xfrm>
            <a:off x="502920" y="3182112"/>
            <a:ext cx="3913632" cy="329184"/>
          </a:xfrm>
          <a:prstGeom prst="rect">
            <a:avLst/>
          </a:prstGeom>
          <a:noFill/>
          <a:ln/>
        </p:spPr>
        <p:txBody>
          <a:bodyPr wrap="square" lIns="0" tIns="0" rIns="0" bIns="0" rtlCol="0" anchor="ctr"/>
          <a:lstStyle/>
          <a:p>
            <a:pPr indent="0" marL="0">
              <a:buNone/>
            </a:pPr>
            <a:r>
              <a:rPr lang="en-US" sz="1200" b="1" dirty="0">
                <a:solidFill>
                  <a:srgbClr val="FFFFFF"/>
                </a:solidFill>
              </a:rPr>
              <a:t>5 grade bands vs 2</a:t>
            </a:r>
            <a:endParaRPr lang="en-US" sz="1200" dirty="0"/>
          </a:p>
        </p:txBody>
      </p:sp>
      <p:sp>
        <p:nvSpPr>
          <p:cNvPr id="15" name="Shape 13"/>
          <p:cNvSpPr/>
          <p:nvPr/>
        </p:nvSpPr>
        <p:spPr>
          <a:xfrm>
            <a:off x="411480" y="3511296"/>
            <a:ext cx="4096512" cy="1042416"/>
          </a:xfrm>
          <a:prstGeom prst="rect">
            <a:avLst/>
          </a:prstGeom>
          <a:solidFill>
            <a:srgbClr val="EEE8DC"/>
          </a:solidFill>
          <a:ln/>
          <a:effectLst>
            <a:outerShdw sx="100000" sy="100000" kx="0" ky="0" algn="bl" rotWithShape="0" blurRad="63500" dist="25400" dir="8100000">
              <a:srgbClr val="000000">
                <a:alpha val="10000"/>
              </a:srgbClr>
            </a:outerShdw>
          </a:effectLst>
        </p:spPr>
      </p:sp>
      <p:sp>
        <p:nvSpPr>
          <p:cNvPr id="16" name="Text 14"/>
          <p:cNvSpPr/>
          <p:nvPr/>
        </p:nvSpPr>
        <p:spPr>
          <a:xfrm>
            <a:off x="548640" y="3584448"/>
            <a:ext cx="3822192" cy="914400"/>
          </a:xfrm>
          <a:prstGeom prst="rect">
            <a:avLst/>
          </a:prstGeom>
          <a:noFill/>
          <a:ln/>
        </p:spPr>
        <p:txBody>
          <a:bodyPr wrap="square" rtlCol="0" anchor="ctr"/>
          <a:lstStyle/>
          <a:p>
            <a:pPr indent="0" marL="0">
              <a:lnSpc>
                <a:spcPct val="130000"/>
              </a:lnSpc>
              <a:buNone/>
            </a:pPr>
            <a:r>
              <a:rPr lang="en-US" sz="1100" dirty="0">
                <a:solidFill>
                  <a:srgbClr val="2C4A2E"/>
                </a:solidFill>
              </a:rPr>
              <a:t>Predicting A/B/C/D/F is much harder than just Pass/Fail. Getting 64% right across 5 categories is actually solid performance.</a:t>
            </a:r>
            <a:endParaRPr lang="en-US" sz="1100" dirty="0"/>
          </a:p>
        </p:txBody>
      </p:sp>
      <p:sp>
        <p:nvSpPr>
          <p:cNvPr id="17" name="Shape 15"/>
          <p:cNvSpPr/>
          <p:nvPr/>
        </p:nvSpPr>
        <p:spPr>
          <a:xfrm>
            <a:off x="4736592" y="1719072"/>
            <a:ext cx="4096512" cy="329184"/>
          </a:xfrm>
          <a:prstGeom prst="rect">
            <a:avLst/>
          </a:prstGeom>
          <a:solidFill>
            <a:srgbClr val="3D6B40"/>
          </a:solidFill>
          <a:ln/>
        </p:spPr>
      </p:sp>
      <p:sp>
        <p:nvSpPr>
          <p:cNvPr id="18" name="Text 16"/>
          <p:cNvSpPr/>
          <p:nvPr/>
        </p:nvSpPr>
        <p:spPr>
          <a:xfrm>
            <a:off x="4828032" y="1719072"/>
            <a:ext cx="3913632" cy="329184"/>
          </a:xfrm>
          <a:prstGeom prst="rect">
            <a:avLst/>
          </a:prstGeom>
          <a:noFill/>
          <a:ln/>
        </p:spPr>
        <p:txBody>
          <a:bodyPr wrap="square" lIns="0" tIns="0" rIns="0" bIns="0" rtlCol="0" anchor="ctr"/>
          <a:lstStyle/>
          <a:p>
            <a:pPr indent="0" marL="0">
              <a:buNone/>
            </a:pPr>
            <a:r>
              <a:rPr lang="en-US" sz="1200" b="1" dirty="0">
                <a:solidFill>
                  <a:srgbClr val="FFFFFF"/>
                </a:solidFill>
              </a:rPr>
              <a:t>SMOTE matters</a:t>
            </a:r>
            <a:endParaRPr lang="en-US" sz="1200" dirty="0"/>
          </a:p>
        </p:txBody>
      </p:sp>
      <p:sp>
        <p:nvSpPr>
          <p:cNvPr id="19" name="Shape 17"/>
          <p:cNvSpPr/>
          <p:nvPr/>
        </p:nvSpPr>
        <p:spPr>
          <a:xfrm>
            <a:off x="4736592" y="2048256"/>
            <a:ext cx="4096512" cy="1042416"/>
          </a:xfrm>
          <a:prstGeom prst="rect">
            <a:avLst/>
          </a:prstGeom>
          <a:solidFill>
            <a:srgbClr val="EEE8DC"/>
          </a:solidFill>
          <a:ln/>
          <a:effectLst>
            <a:outerShdw sx="100000" sy="100000" kx="0" ky="0" algn="bl" rotWithShape="0" blurRad="63500" dist="25400" dir="8100000">
              <a:srgbClr val="000000">
                <a:alpha val="10000"/>
              </a:srgbClr>
            </a:outerShdw>
          </a:effectLst>
        </p:spPr>
      </p:sp>
      <p:sp>
        <p:nvSpPr>
          <p:cNvPr id="20" name="Text 18"/>
          <p:cNvSpPr/>
          <p:nvPr/>
        </p:nvSpPr>
        <p:spPr>
          <a:xfrm>
            <a:off x="4873752" y="2121408"/>
            <a:ext cx="3822192" cy="914400"/>
          </a:xfrm>
          <a:prstGeom prst="rect">
            <a:avLst/>
          </a:prstGeom>
          <a:noFill/>
          <a:ln/>
        </p:spPr>
        <p:txBody>
          <a:bodyPr wrap="square" rtlCol="0" anchor="ctr"/>
          <a:lstStyle/>
          <a:p>
            <a:pPr indent="0" marL="0">
              <a:lnSpc>
                <a:spcPct val="130000"/>
              </a:lnSpc>
              <a:buNone/>
            </a:pPr>
            <a:r>
              <a:rPr lang="en-US" sz="1100" dirty="0">
                <a:solidFill>
                  <a:srgbClr val="2C4A2E"/>
                </a:solidFill>
              </a:rPr>
              <a:t>Before SMOTE (our technique to balance the data), failing students were underrepresented. After SMOTE, cross-validation accuracy climbed to 75.8% — a meaningful improvement.</a:t>
            </a:r>
            <a:endParaRPr lang="en-US" sz="1100" dirty="0"/>
          </a:p>
        </p:txBody>
      </p:sp>
      <p:sp>
        <p:nvSpPr>
          <p:cNvPr id="21" name="Shape 19"/>
          <p:cNvSpPr/>
          <p:nvPr/>
        </p:nvSpPr>
        <p:spPr>
          <a:xfrm>
            <a:off x="4736592" y="3182112"/>
            <a:ext cx="4096512" cy="329184"/>
          </a:xfrm>
          <a:prstGeom prst="rect">
            <a:avLst/>
          </a:prstGeom>
          <a:solidFill>
            <a:srgbClr val="3D6B40"/>
          </a:solidFill>
          <a:ln/>
        </p:spPr>
      </p:sp>
      <p:sp>
        <p:nvSpPr>
          <p:cNvPr id="22" name="Text 20"/>
          <p:cNvSpPr/>
          <p:nvPr/>
        </p:nvSpPr>
        <p:spPr>
          <a:xfrm>
            <a:off x="4828032" y="3182112"/>
            <a:ext cx="3913632" cy="329184"/>
          </a:xfrm>
          <a:prstGeom prst="rect">
            <a:avLst/>
          </a:prstGeom>
          <a:noFill/>
          <a:ln/>
        </p:spPr>
        <p:txBody>
          <a:bodyPr wrap="square" lIns="0" tIns="0" rIns="0" bIns="0" rtlCol="0" anchor="ctr"/>
          <a:lstStyle/>
          <a:p>
            <a:pPr indent="0" marL="0">
              <a:buNone/>
            </a:pPr>
            <a:r>
              <a:rPr lang="en-US" sz="1200" b="1" dirty="0">
                <a:solidFill>
                  <a:srgbClr val="FFFFFF"/>
                </a:solidFill>
              </a:rPr>
              <a:t>Regression is strong</a:t>
            </a:r>
            <a:endParaRPr lang="en-US" sz="1200" dirty="0"/>
          </a:p>
        </p:txBody>
      </p:sp>
      <p:sp>
        <p:nvSpPr>
          <p:cNvPr id="23" name="Shape 21"/>
          <p:cNvSpPr/>
          <p:nvPr/>
        </p:nvSpPr>
        <p:spPr>
          <a:xfrm>
            <a:off x="4736592" y="3511296"/>
            <a:ext cx="4096512" cy="1042416"/>
          </a:xfrm>
          <a:prstGeom prst="rect">
            <a:avLst/>
          </a:prstGeom>
          <a:solidFill>
            <a:srgbClr val="EEE8DC"/>
          </a:solidFill>
          <a:ln/>
          <a:effectLst>
            <a:outerShdw sx="100000" sy="100000" kx="0" ky="0" algn="bl" rotWithShape="0" blurRad="63500" dist="25400" dir="8100000">
              <a:srgbClr val="000000">
                <a:alpha val="10000"/>
              </a:srgbClr>
            </a:outerShdw>
          </a:effectLst>
        </p:spPr>
      </p:sp>
      <p:sp>
        <p:nvSpPr>
          <p:cNvPr id="24" name="Text 22"/>
          <p:cNvSpPr/>
          <p:nvPr/>
        </p:nvSpPr>
        <p:spPr>
          <a:xfrm>
            <a:off x="4873752" y="3584448"/>
            <a:ext cx="3822192" cy="914400"/>
          </a:xfrm>
          <a:prstGeom prst="rect">
            <a:avLst/>
          </a:prstGeom>
          <a:noFill/>
          <a:ln/>
        </p:spPr>
        <p:txBody>
          <a:bodyPr wrap="square" rtlCol="0" anchor="ctr"/>
          <a:lstStyle/>
          <a:p>
            <a:pPr indent="0" marL="0">
              <a:lnSpc>
                <a:spcPct val="130000"/>
              </a:lnSpc>
              <a:buNone/>
            </a:pPr>
            <a:r>
              <a:rPr lang="en-US" sz="1100" dirty="0">
                <a:solidFill>
                  <a:srgbClr val="2C4A2E"/>
                </a:solidFill>
              </a:rPr>
              <a:t>For predicting the actual score as a number, Linear Regression hit 90% R² — meaning our features explain 90% of the variation in exam scores. That's a strong result.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0" y="0"/>
            <a:ext cx="2286000" cy="329184"/>
          </a:xfrm>
          <a:prstGeom prst="rect">
            <a:avLst/>
          </a:prstGeom>
          <a:solidFill>
            <a:srgbClr val="2C4A2E"/>
          </a:solidFill>
          <a:ln/>
        </p:spPr>
      </p:sp>
      <p:sp>
        <p:nvSpPr>
          <p:cNvPr id="3" name="Text 1"/>
          <p:cNvSpPr/>
          <p:nvPr/>
        </p:nvSpPr>
        <p:spPr>
          <a:xfrm>
            <a:off x="109728" y="36576"/>
            <a:ext cx="2103120" cy="256032"/>
          </a:xfrm>
          <a:prstGeom prst="rect">
            <a:avLst/>
          </a:prstGeom>
          <a:noFill/>
          <a:ln/>
        </p:spPr>
        <p:txBody>
          <a:bodyPr wrap="square" lIns="0" tIns="0" rIns="0" bIns="0" rtlCol="0" anchor="ctr"/>
          <a:lstStyle/>
          <a:p>
            <a:pPr indent="0" marL="0">
              <a:buNone/>
            </a:pPr>
            <a:r>
              <a:rPr lang="en-US" sz="900" dirty="0">
                <a:solidFill>
                  <a:srgbClr val="FFFFFF"/>
                </a:solidFill>
              </a:rPr>
              <a:t>DS340W | Spring 2026</a:t>
            </a:r>
            <a:endParaRPr lang="en-US" sz="900" dirty="0"/>
          </a:p>
        </p:txBody>
      </p:sp>
      <p:sp>
        <p:nvSpPr>
          <p:cNvPr id="4" name="Shape 2"/>
          <p:cNvSpPr/>
          <p:nvPr/>
        </p:nvSpPr>
        <p:spPr>
          <a:xfrm>
            <a:off x="0" y="4873752"/>
            <a:ext cx="1280160" cy="274320"/>
          </a:xfrm>
          <a:prstGeom prst="rect">
            <a:avLst/>
          </a:prstGeom>
          <a:solidFill>
            <a:srgbClr val="2C4A2E"/>
          </a:solidFill>
          <a:ln/>
        </p:spPr>
      </p:sp>
      <p:sp>
        <p:nvSpPr>
          <p:cNvPr id="5" name="Shape 3"/>
          <p:cNvSpPr/>
          <p:nvPr/>
        </p:nvSpPr>
        <p:spPr>
          <a:xfrm>
            <a:off x="1371600" y="4873752"/>
            <a:ext cx="7772400" cy="274320"/>
          </a:xfrm>
          <a:prstGeom prst="rect">
            <a:avLst/>
          </a:prstGeom>
          <a:solidFill>
            <a:srgbClr val="3D6B40"/>
          </a:solidFill>
          <a:ln/>
        </p:spPr>
      </p:sp>
      <p:sp>
        <p:nvSpPr>
          <p:cNvPr id="6" name="Text 4"/>
          <p:cNvSpPr/>
          <p:nvPr/>
        </p:nvSpPr>
        <p:spPr>
          <a:xfrm>
            <a:off x="8412480" y="73152"/>
            <a:ext cx="685800" cy="384048"/>
          </a:xfrm>
          <a:prstGeom prst="rect">
            <a:avLst/>
          </a:prstGeom>
          <a:noFill/>
          <a:ln/>
        </p:spPr>
        <p:txBody>
          <a:bodyPr wrap="square" lIns="0" tIns="0" rIns="0" bIns="0" rtlCol="0" anchor="ctr"/>
          <a:lstStyle/>
          <a:p>
            <a:pPr algn="r" indent="0" marL="0">
              <a:buNone/>
            </a:pPr>
            <a:r>
              <a:rPr lang="en-US" sz="2000" b="1" dirty="0">
                <a:solidFill>
                  <a:srgbClr val="2C4A2E"/>
                </a:solidFill>
              </a:rPr>
              <a:t>11</a:t>
            </a:r>
            <a:endParaRPr lang="en-US" sz="2000" dirty="0"/>
          </a:p>
        </p:txBody>
      </p:sp>
      <p:sp>
        <p:nvSpPr>
          <p:cNvPr id="7" name="Text 5"/>
          <p:cNvSpPr/>
          <p:nvPr/>
        </p:nvSpPr>
        <p:spPr>
          <a:xfrm>
            <a:off x="457200" y="457200"/>
            <a:ext cx="8229600" cy="658368"/>
          </a:xfrm>
          <a:prstGeom prst="rect">
            <a:avLst/>
          </a:prstGeom>
          <a:noFill/>
          <a:ln/>
        </p:spPr>
        <p:txBody>
          <a:bodyPr wrap="square" rtlCol="0" anchor="ctr"/>
          <a:lstStyle/>
          <a:p>
            <a:pPr algn="ctr" indent="0" marL="0">
              <a:buNone/>
            </a:pPr>
            <a:r>
              <a:rPr lang="en-US" sz="3400" dirty="0">
                <a:solidFill>
                  <a:srgbClr val="2C4A2E"/>
                </a:solidFill>
                <a:latin typeface="Georgia" pitchFamily="34" charset="0"/>
                <a:ea typeface="Georgia" pitchFamily="34" charset="-122"/>
                <a:cs typeface="Georgia" pitchFamily="34" charset="-120"/>
              </a:rPr>
              <a:t>What Comes Next</a:t>
            </a:r>
            <a:endParaRPr lang="en-US" sz="3400" dirty="0"/>
          </a:p>
        </p:txBody>
      </p:sp>
      <p:sp>
        <p:nvSpPr>
          <p:cNvPr id="8" name="Shape 6"/>
          <p:cNvSpPr/>
          <p:nvPr/>
        </p:nvSpPr>
        <p:spPr>
          <a:xfrm>
            <a:off x="411480" y="1261872"/>
            <a:ext cx="530352" cy="1463040"/>
          </a:xfrm>
          <a:prstGeom prst="rect">
            <a:avLst/>
          </a:prstGeom>
          <a:solidFill>
            <a:srgbClr val="2C4A2E"/>
          </a:solidFill>
          <a:ln/>
          <a:effectLst>
            <a:outerShdw sx="100000" sy="100000" kx="0" ky="0" algn="bl" rotWithShape="0" blurRad="63500" dist="25400" dir="8100000">
              <a:srgbClr val="000000">
                <a:alpha val="10000"/>
              </a:srgbClr>
            </a:outerShdw>
          </a:effectLst>
        </p:spPr>
      </p:sp>
      <p:sp>
        <p:nvSpPr>
          <p:cNvPr id="9" name="Text 7"/>
          <p:cNvSpPr/>
          <p:nvPr/>
        </p:nvSpPr>
        <p:spPr>
          <a:xfrm>
            <a:off x="411480" y="1764792"/>
            <a:ext cx="530352" cy="457200"/>
          </a:xfrm>
          <a:prstGeom prst="rect">
            <a:avLst/>
          </a:prstGeom>
          <a:noFill/>
          <a:ln/>
        </p:spPr>
        <p:txBody>
          <a:bodyPr wrap="square" lIns="0" tIns="0" rIns="0" bIns="0" rtlCol="0" anchor="ctr"/>
          <a:lstStyle/>
          <a:p>
            <a:pPr algn="ctr" indent="0" marL="0">
              <a:buNone/>
            </a:pPr>
            <a:r>
              <a:rPr lang="en-US" sz="1400" b="1" dirty="0">
                <a:solidFill>
                  <a:srgbClr val="FFFFFF"/>
                </a:solidFill>
              </a:rPr>
              <a:t>01</a:t>
            </a:r>
            <a:endParaRPr lang="en-US" sz="1400" dirty="0"/>
          </a:p>
        </p:txBody>
      </p:sp>
      <p:sp>
        <p:nvSpPr>
          <p:cNvPr id="10" name="Shape 8"/>
          <p:cNvSpPr/>
          <p:nvPr/>
        </p:nvSpPr>
        <p:spPr>
          <a:xfrm>
            <a:off x="941832" y="1261872"/>
            <a:ext cx="3703320" cy="1463040"/>
          </a:xfrm>
          <a:prstGeom prst="rect">
            <a:avLst/>
          </a:prstGeom>
          <a:solidFill>
            <a:srgbClr val="EEE8DC"/>
          </a:solidFill>
          <a:ln/>
          <a:effectLst>
            <a:outerShdw sx="100000" sy="100000" kx="0" ky="0" algn="bl" rotWithShape="0" blurRad="63500" dist="25400" dir="8100000">
              <a:srgbClr val="000000">
                <a:alpha val="10000"/>
              </a:srgbClr>
            </a:outerShdw>
          </a:effectLst>
        </p:spPr>
      </p:sp>
      <p:sp>
        <p:nvSpPr>
          <p:cNvPr id="11" name="Text 9"/>
          <p:cNvSpPr/>
          <p:nvPr/>
        </p:nvSpPr>
        <p:spPr>
          <a:xfrm>
            <a:off x="1069848" y="1399032"/>
            <a:ext cx="3474720" cy="347472"/>
          </a:xfrm>
          <a:prstGeom prst="rect">
            <a:avLst/>
          </a:prstGeom>
          <a:noFill/>
          <a:ln/>
        </p:spPr>
        <p:txBody>
          <a:bodyPr wrap="square" lIns="0" tIns="0" rIns="0" bIns="0" rtlCol="0" anchor="ctr"/>
          <a:lstStyle/>
          <a:p>
            <a:pPr indent="0" marL="0">
              <a:buNone/>
            </a:pPr>
            <a:r>
              <a:rPr lang="en-US" sz="1400" b="1" dirty="0">
                <a:solidFill>
                  <a:srgbClr val="2C4A2E"/>
                </a:solidFill>
              </a:rPr>
              <a:t>Hyperparameter Tuning</a:t>
            </a:r>
            <a:endParaRPr lang="en-US" sz="1400" dirty="0"/>
          </a:p>
        </p:txBody>
      </p:sp>
      <p:sp>
        <p:nvSpPr>
          <p:cNvPr id="12" name="Text 10"/>
          <p:cNvSpPr/>
          <p:nvPr/>
        </p:nvSpPr>
        <p:spPr>
          <a:xfrm>
            <a:off x="1069848" y="1773936"/>
            <a:ext cx="3474720" cy="822960"/>
          </a:xfrm>
          <a:prstGeom prst="rect">
            <a:avLst/>
          </a:prstGeom>
          <a:noFill/>
          <a:ln/>
        </p:spPr>
        <p:txBody>
          <a:bodyPr wrap="square" rtlCol="0" anchor="ctr"/>
          <a:lstStyle/>
          <a:p>
            <a:pPr indent="0" marL="0">
              <a:lnSpc>
                <a:spcPct val="130000"/>
              </a:lnSpc>
              <a:buNone/>
            </a:pPr>
            <a:r>
              <a:rPr lang="en-US" sz="1100" dirty="0">
                <a:solidFill>
                  <a:srgbClr val="6B7280"/>
                </a:solidFill>
              </a:rPr>
              <a:t>Right now our models use default settings. Tuning them — like adjusting how deep the decision trees grow — could push classification accuracy significantly higher.</a:t>
            </a:r>
            <a:endParaRPr lang="en-US" sz="1100" dirty="0"/>
          </a:p>
        </p:txBody>
      </p:sp>
      <p:sp>
        <p:nvSpPr>
          <p:cNvPr id="13" name="Shape 11"/>
          <p:cNvSpPr/>
          <p:nvPr/>
        </p:nvSpPr>
        <p:spPr>
          <a:xfrm>
            <a:off x="411480" y="2944368"/>
            <a:ext cx="530352" cy="1463040"/>
          </a:xfrm>
          <a:prstGeom prst="rect">
            <a:avLst/>
          </a:prstGeom>
          <a:solidFill>
            <a:srgbClr val="2C4A2E"/>
          </a:solidFill>
          <a:ln/>
          <a:effectLst>
            <a:outerShdw sx="100000" sy="100000" kx="0" ky="0" algn="bl" rotWithShape="0" blurRad="63500" dist="25400" dir="8100000">
              <a:srgbClr val="000000">
                <a:alpha val="10000"/>
              </a:srgbClr>
            </a:outerShdw>
          </a:effectLst>
        </p:spPr>
      </p:sp>
      <p:sp>
        <p:nvSpPr>
          <p:cNvPr id="14" name="Text 12"/>
          <p:cNvSpPr/>
          <p:nvPr/>
        </p:nvSpPr>
        <p:spPr>
          <a:xfrm>
            <a:off x="411480" y="3447288"/>
            <a:ext cx="530352" cy="457200"/>
          </a:xfrm>
          <a:prstGeom prst="rect">
            <a:avLst/>
          </a:prstGeom>
          <a:noFill/>
          <a:ln/>
        </p:spPr>
        <p:txBody>
          <a:bodyPr wrap="square" lIns="0" tIns="0" rIns="0" bIns="0" rtlCol="0" anchor="ctr"/>
          <a:lstStyle/>
          <a:p>
            <a:pPr algn="ctr" indent="0" marL="0">
              <a:buNone/>
            </a:pPr>
            <a:r>
              <a:rPr lang="en-US" sz="1400" b="1" dirty="0">
                <a:solidFill>
                  <a:srgbClr val="FFFFFF"/>
                </a:solidFill>
              </a:rPr>
              <a:t>02</a:t>
            </a:r>
            <a:endParaRPr lang="en-US" sz="1400" dirty="0"/>
          </a:p>
        </p:txBody>
      </p:sp>
      <p:sp>
        <p:nvSpPr>
          <p:cNvPr id="15" name="Shape 13"/>
          <p:cNvSpPr/>
          <p:nvPr/>
        </p:nvSpPr>
        <p:spPr>
          <a:xfrm>
            <a:off x="941832" y="2944368"/>
            <a:ext cx="3703320" cy="1463040"/>
          </a:xfrm>
          <a:prstGeom prst="rect">
            <a:avLst/>
          </a:prstGeom>
          <a:solidFill>
            <a:srgbClr val="EEE8DC"/>
          </a:solidFill>
          <a:ln/>
          <a:effectLst>
            <a:outerShdw sx="100000" sy="100000" kx="0" ky="0" algn="bl" rotWithShape="0" blurRad="63500" dist="25400" dir="8100000">
              <a:srgbClr val="000000">
                <a:alpha val="10000"/>
              </a:srgbClr>
            </a:outerShdw>
          </a:effectLst>
        </p:spPr>
      </p:sp>
      <p:sp>
        <p:nvSpPr>
          <p:cNvPr id="16" name="Text 14"/>
          <p:cNvSpPr/>
          <p:nvPr/>
        </p:nvSpPr>
        <p:spPr>
          <a:xfrm>
            <a:off x="1069848" y="3081528"/>
            <a:ext cx="3474720" cy="347472"/>
          </a:xfrm>
          <a:prstGeom prst="rect">
            <a:avLst/>
          </a:prstGeom>
          <a:noFill/>
          <a:ln/>
        </p:spPr>
        <p:txBody>
          <a:bodyPr wrap="square" lIns="0" tIns="0" rIns="0" bIns="0" rtlCol="0" anchor="ctr"/>
          <a:lstStyle/>
          <a:p>
            <a:pPr indent="0" marL="0">
              <a:buNone/>
            </a:pPr>
            <a:r>
              <a:rPr lang="en-US" sz="1400" b="1" dirty="0">
                <a:solidFill>
                  <a:srgbClr val="2C4A2E"/>
                </a:solidFill>
              </a:rPr>
              <a:t>Add Financial Data</a:t>
            </a:r>
            <a:endParaRPr lang="en-US" sz="1400" dirty="0"/>
          </a:p>
        </p:txBody>
      </p:sp>
      <p:sp>
        <p:nvSpPr>
          <p:cNvPr id="17" name="Text 15"/>
          <p:cNvSpPr/>
          <p:nvPr/>
        </p:nvSpPr>
        <p:spPr>
          <a:xfrm>
            <a:off x="1069848" y="3456432"/>
            <a:ext cx="3474720" cy="822960"/>
          </a:xfrm>
          <a:prstGeom prst="rect">
            <a:avLst/>
          </a:prstGeom>
          <a:noFill/>
          <a:ln/>
        </p:spPr>
        <p:txBody>
          <a:bodyPr wrap="square" rtlCol="0" anchor="ctr"/>
          <a:lstStyle/>
          <a:p>
            <a:pPr indent="0" marL="0">
              <a:lnSpc>
                <a:spcPct val="130000"/>
              </a:lnSpc>
              <a:buNone/>
            </a:pPr>
            <a:r>
              <a:rPr lang="en-US" sz="1100" dirty="0">
                <a:solidFill>
                  <a:srgbClr val="6B7280"/>
                </a:solidFill>
              </a:rPr>
              <a:t>Our research topic includes financial well-being but the current dataset doesn't have it. A future version would include rent costs, tuition loans, and hours worked per week.</a:t>
            </a:r>
            <a:endParaRPr lang="en-US" sz="1100" dirty="0"/>
          </a:p>
        </p:txBody>
      </p:sp>
      <p:sp>
        <p:nvSpPr>
          <p:cNvPr id="18" name="Shape 16"/>
          <p:cNvSpPr/>
          <p:nvPr/>
        </p:nvSpPr>
        <p:spPr>
          <a:xfrm>
            <a:off x="4736592" y="1261872"/>
            <a:ext cx="530352" cy="1463040"/>
          </a:xfrm>
          <a:prstGeom prst="rect">
            <a:avLst/>
          </a:prstGeom>
          <a:solidFill>
            <a:srgbClr val="2C4A2E"/>
          </a:solidFill>
          <a:ln/>
          <a:effectLst>
            <a:outerShdw sx="100000" sy="100000" kx="0" ky="0" algn="bl" rotWithShape="0" blurRad="63500" dist="25400" dir="8100000">
              <a:srgbClr val="000000">
                <a:alpha val="10000"/>
              </a:srgbClr>
            </a:outerShdw>
          </a:effectLst>
        </p:spPr>
      </p:sp>
      <p:sp>
        <p:nvSpPr>
          <p:cNvPr id="19" name="Text 17"/>
          <p:cNvSpPr/>
          <p:nvPr/>
        </p:nvSpPr>
        <p:spPr>
          <a:xfrm>
            <a:off x="4736592" y="1764792"/>
            <a:ext cx="530352" cy="457200"/>
          </a:xfrm>
          <a:prstGeom prst="rect">
            <a:avLst/>
          </a:prstGeom>
          <a:noFill/>
          <a:ln/>
        </p:spPr>
        <p:txBody>
          <a:bodyPr wrap="square" lIns="0" tIns="0" rIns="0" bIns="0" rtlCol="0" anchor="ctr"/>
          <a:lstStyle/>
          <a:p>
            <a:pPr algn="ctr" indent="0" marL="0">
              <a:buNone/>
            </a:pPr>
            <a:r>
              <a:rPr lang="en-US" sz="1400" b="1" dirty="0">
                <a:solidFill>
                  <a:srgbClr val="FFFFFF"/>
                </a:solidFill>
              </a:rPr>
              <a:t>03</a:t>
            </a:r>
            <a:endParaRPr lang="en-US" sz="1400" dirty="0"/>
          </a:p>
        </p:txBody>
      </p:sp>
      <p:sp>
        <p:nvSpPr>
          <p:cNvPr id="20" name="Shape 18"/>
          <p:cNvSpPr/>
          <p:nvPr/>
        </p:nvSpPr>
        <p:spPr>
          <a:xfrm>
            <a:off x="5266944" y="1261872"/>
            <a:ext cx="3703320" cy="1463040"/>
          </a:xfrm>
          <a:prstGeom prst="rect">
            <a:avLst/>
          </a:prstGeom>
          <a:solidFill>
            <a:srgbClr val="EEE8DC"/>
          </a:solidFill>
          <a:ln/>
          <a:effectLst>
            <a:outerShdw sx="100000" sy="100000" kx="0" ky="0" algn="bl" rotWithShape="0" blurRad="63500" dist="25400" dir="8100000">
              <a:srgbClr val="000000">
                <a:alpha val="10000"/>
              </a:srgbClr>
            </a:outerShdw>
          </a:effectLst>
        </p:spPr>
      </p:sp>
      <p:sp>
        <p:nvSpPr>
          <p:cNvPr id="21" name="Text 19"/>
          <p:cNvSpPr/>
          <p:nvPr/>
        </p:nvSpPr>
        <p:spPr>
          <a:xfrm>
            <a:off x="5394960" y="1399032"/>
            <a:ext cx="3474720" cy="347472"/>
          </a:xfrm>
          <a:prstGeom prst="rect">
            <a:avLst/>
          </a:prstGeom>
          <a:noFill/>
          <a:ln/>
        </p:spPr>
        <p:txBody>
          <a:bodyPr wrap="square" lIns="0" tIns="0" rIns="0" bIns="0" rtlCol="0" anchor="ctr"/>
          <a:lstStyle/>
          <a:p>
            <a:pPr indent="0" marL="0">
              <a:buNone/>
            </a:pPr>
            <a:r>
              <a:rPr lang="en-US" sz="1400" b="1" dirty="0">
                <a:solidFill>
                  <a:srgbClr val="2C4A2E"/>
                </a:solidFill>
              </a:rPr>
              <a:t>Individual SHAP Reports</a:t>
            </a:r>
            <a:endParaRPr lang="en-US" sz="1400" dirty="0"/>
          </a:p>
        </p:txBody>
      </p:sp>
      <p:sp>
        <p:nvSpPr>
          <p:cNvPr id="22" name="Text 20"/>
          <p:cNvSpPr/>
          <p:nvPr/>
        </p:nvSpPr>
        <p:spPr>
          <a:xfrm>
            <a:off x="5394960" y="1773936"/>
            <a:ext cx="3474720" cy="822960"/>
          </a:xfrm>
          <a:prstGeom prst="rect">
            <a:avLst/>
          </a:prstGeom>
          <a:noFill/>
          <a:ln/>
        </p:spPr>
        <p:txBody>
          <a:bodyPr wrap="square" rtlCol="0" anchor="ctr"/>
          <a:lstStyle/>
          <a:p>
            <a:pPr indent="0" marL="0">
              <a:lnSpc>
                <a:spcPct val="130000"/>
              </a:lnSpc>
              <a:buNone/>
            </a:pPr>
            <a:r>
              <a:rPr lang="en-US" sz="1100" dirty="0">
                <a:solidFill>
                  <a:srgbClr val="6B7280"/>
                </a:solidFill>
              </a:rPr>
              <a:t>Instead of one summary chart, we want to generate a personal risk report for each student — showing exactly which habits are hurting or helping their performance.</a:t>
            </a:r>
            <a:endParaRPr lang="en-US" sz="1100" dirty="0"/>
          </a:p>
        </p:txBody>
      </p:sp>
      <p:sp>
        <p:nvSpPr>
          <p:cNvPr id="23" name="Shape 21"/>
          <p:cNvSpPr/>
          <p:nvPr/>
        </p:nvSpPr>
        <p:spPr>
          <a:xfrm>
            <a:off x="4736592" y="2944368"/>
            <a:ext cx="530352" cy="1463040"/>
          </a:xfrm>
          <a:prstGeom prst="rect">
            <a:avLst/>
          </a:prstGeom>
          <a:solidFill>
            <a:srgbClr val="2C4A2E"/>
          </a:solidFill>
          <a:ln/>
          <a:effectLst>
            <a:outerShdw sx="100000" sy="100000" kx="0" ky="0" algn="bl" rotWithShape="0" blurRad="63500" dist="25400" dir="8100000">
              <a:srgbClr val="000000">
                <a:alpha val="10000"/>
              </a:srgbClr>
            </a:outerShdw>
          </a:effectLst>
        </p:spPr>
      </p:sp>
      <p:sp>
        <p:nvSpPr>
          <p:cNvPr id="24" name="Text 22"/>
          <p:cNvSpPr/>
          <p:nvPr/>
        </p:nvSpPr>
        <p:spPr>
          <a:xfrm>
            <a:off x="4736592" y="3447288"/>
            <a:ext cx="530352" cy="457200"/>
          </a:xfrm>
          <a:prstGeom prst="rect">
            <a:avLst/>
          </a:prstGeom>
          <a:noFill/>
          <a:ln/>
        </p:spPr>
        <p:txBody>
          <a:bodyPr wrap="square" lIns="0" tIns="0" rIns="0" bIns="0" rtlCol="0" anchor="ctr"/>
          <a:lstStyle/>
          <a:p>
            <a:pPr algn="ctr" indent="0" marL="0">
              <a:buNone/>
            </a:pPr>
            <a:r>
              <a:rPr lang="en-US" sz="1400" b="1" dirty="0">
                <a:solidFill>
                  <a:srgbClr val="FFFFFF"/>
                </a:solidFill>
              </a:rPr>
              <a:t>04</a:t>
            </a:r>
            <a:endParaRPr lang="en-US" sz="1400" dirty="0"/>
          </a:p>
        </p:txBody>
      </p:sp>
      <p:sp>
        <p:nvSpPr>
          <p:cNvPr id="25" name="Shape 23"/>
          <p:cNvSpPr/>
          <p:nvPr/>
        </p:nvSpPr>
        <p:spPr>
          <a:xfrm>
            <a:off x="5266944" y="2944368"/>
            <a:ext cx="3703320" cy="1463040"/>
          </a:xfrm>
          <a:prstGeom prst="rect">
            <a:avLst/>
          </a:prstGeom>
          <a:solidFill>
            <a:srgbClr val="EEE8DC"/>
          </a:solidFill>
          <a:ln/>
          <a:effectLst>
            <a:outerShdw sx="100000" sy="100000" kx="0" ky="0" algn="bl" rotWithShape="0" blurRad="63500" dist="25400" dir="8100000">
              <a:srgbClr val="000000">
                <a:alpha val="10000"/>
              </a:srgbClr>
            </a:outerShdw>
          </a:effectLst>
        </p:spPr>
      </p:sp>
      <p:sp>
        <p:nvSpPr>
          <p:cNvPr id="26" name="Text 24"/>
          <p:cNvSpPr/>
          <p:nvPr/>
        </p:nvSpPr>
        <p:spPr>
          <a:xfrm>
            <a:off x="5394960" y="3081528"/>
            <a:ext cx="3474720" cy="347472"/>
          </a:xfrm>
          <a:prstGeom prst="rect">
            <a:avLst/>
          </a:prstGeom>
          <a:noFill/>
          <a:ln/>
        </p:spPr>
        <p:txBody>
          <a:bodyPr wrap="square" lIns="0" tIns="0" rIns="0" bIns="0" rtlCol="0" anchor="ctr"/>
          <a:lstStyle/>
          <a:p>
            <a:pPr indent="0" marL="0">
              <a:buNone/>
            </a:pPr>
            <a:r>
              <a:rPr lang="en-US" sz="1400" b="1" dirty="0">
                <a:solidFill>
                  <a:srgbClr val="2C4A2E"/>
                </a:solidFill>
              </a:rPr>
              <a:t>Real Campus Partnership</a:t>
            </a:r>
            <a:endParaRPr lang="en-US" sz="1400" dirty="0"/>
          </a:p>
        </p:txBody>
      </p:sp>
      <p:sp>
        <p:nvSpPr>
          <p:cNvPr id="27" name="Text 25"/>
          <p:cNvSpPr/>
          <p:nvPr/>
        </p:nvSpPr>
        <p:spPr>
          <a:xfrm>
            <a:off x="5394960" y="3456432"/>
            <a:ext cx="3474720" cy="822960"/>
          </a:xfrm>
          <a:prstGeom prst="rect">
            <a:avLst/>
          </a:prstGeom>
          <a:noFill/>
          <a:ln/>
        </p:spPr>
        <p:txBody>
          <a:bodyPr wrap="square" rtlCol="0" anchor="ctr"/>
          <a:lstStyle/>
          <a:p>
            <a:pPr indent="0" marL="0">
              <a:lnSpc>
                <a:spcPct val="130000"/>
              </a:lnSpc>
              <a:buNone/>
            </a:pPr>
            <a:r>
              <a:rPr lang="en-US" sz="1100" dirty="0">
                <a:solidFill>
                  <a:srgbClr val="6B7280"/>
                </a:solidFill>
              </a:rPr>
              <a:t>We'd like to partner with a university to collect real student data over a full semester, making the model applicable to an actual early warning system for advisors.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C4A2E"/>
        </a:solidFill>
      </p:bgPr>
    </p:bg>
    <p:spTree>
      <p:nvGrpSpPr>
        <p:cNvPr id="1" name=""/>
        <p:cNvGrpSpPr/>
        <p:nvPr/>
      </p:nvGrpSpPr>
      <p:grpSpPr>
        <a:xfrm>
          <a:off x="0" y="0"/>
          <a:ext cx="0" cy="0"/>
          <a:chOff x="0" y="0"/>
          <a:chExt cx="0" cy="0"/>
        </a:xfrm>
      </p:grpSpPr>
      <p:sp>
        <p:nvSpPr>
          <p:cNvPr id="2" name="Text 0"/>
          <p:cNvSpPr/>
          <p:nvPr/>
        </p:nvSpPr>
        <p:spPr>
          <a:xfrm>
            <a:off x="457200" y="384048"/>
            <a:ext cx="8229600" cy="640080"/>
          </a:xfrm>
          <a:prstGeom prst="rect">
            <a:avLst/>
          </a:prstGeom>
          <a:noFill/>
          <a:ln/>
        </p:spPr>
        <p:txBody>
          <a:bodyPr wrap="square" rtlCol="0" anchor="ctr"/>
          <a:lstStyle/>
          <a:p>
            <a:pPr algn="ctr" indent="0" marL="0">
              <a:buNone/>
            </a:pPr>
            <a:r>
              <a:rPr lang="en-US" sz="3400" dirty="0">
                <a:solidFill>
                  <a:srgbClr val="EEE8DC"/>
                </a:solidFill>
                <a:latin typeface="Georgia" pitchFamily="34" charset="0"/>
                <a:ea typeface="Georgia" pitchFamily="34" charset="-122"/>
                <a:cs typeface="Georgia" pitchFamily="34" charset="-120"/>
              </a:rPr>
              <a:t>Conclusion</a:t>
            </a:r>
            <a:endParaRPr lang="en-US" sz="3400" dirty="0"/>
          </a:p>
        </p:txBody>
      </p:sp>
      <p:sp>
        <p:nvSpPr>
          <p:cNvPr id="3" name="Shape 1"/>
          <p:cNvSpPr/>
          <p:nvPr/>
        </p:nvSpPr>
        <p:spPr>
          <a:xfrm>
            <a:off x="3474720" y="1097280"/>
            <a:ext cx="2194560" cy="45720"/>
          </a:xfrm>
          <a:prstGeom prst="rect">
            <a:avLst/>
          </a:prstGeom>
          <a:solidFill>
            <a:srgbClr val="3D6B40"/>
          </a:solidFill>
          <a:ln/>
        </p:spPr>
      </p:sp>
      <p:sp>
        <p:nvSpPr>
          <p:cNvPr id="4" name="Shape 2"/>
          <p:cNvSpPr/>
          <p:nvPr/>
        </p:nvSpPr>
        <p:spPr>
          <a:xfrm>
            <a:off x="685800" y="1261872"/>
            <a:ext cx="420624" cy="530352"/>
          </a:xfrm>
          <a:prstGeom prst="rect">
            <a:avLst/>
          </a:prstGeom>
          <a:solidFill>
            <a:srgbClr val="3D6B40"/>
          </a:solidFill>
          <a:ln/>
        </p:spPr>
      </p:sp>
      <p:sp>
        <p:nvSpPr>
          <p:cNvPr id="5" name="Text 3"/>
          <p:cNvSpPr/>
          <p:nvPr/>
        </p:nvSpPr>
        <p:spPr>
          <a:xfrm>
            <a:off x="685800" y="1261872"/>
            <a:ext cx="420624" cy="530352"/>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p:nvPr/>
        </p:nvSpPr>
        <p:spPr>
          <a:xfrm>
            <a:off x="1188720" y="1280160"/>
            <a:ext cx="7406640" cy="512064"/>
          </a:xfrm>
          <a:prstGeom prst="rect">
            <a:avLst/>
          </a:prstGeom>
          <a:noFill/>
          <a:ln/>
        </p:spPr>
        <p:txBody>
          <a:bodyPr wrap="square" rtlCol="0" anchor="ctr"/>
          <a:lstStyle/>
          <a:p>
            <a:pPr indent="0" marL="0">
              <a:lnSpc>
                <a:spcPct val="125000"/>
              </a:lnSpc>
              <a:buNone/>
            </a:pPr>
            <a:r>
              <a:rPr lang="en-US" sz="1150" dirty="0">
                <a:solidFill>
                  <a:srgbClr val="EEE8DC"/>
                </a:solidFill>
              </a:rPr>
              <a:t>Part-time work doesn't hurt grades on its own — but when combined with high distraction, poor sleep, and low wellness scores, it becomes a strong predictor of lower exam performance</a:t>
            </a:r>
            <a:endParaRPr lang="en-US" sz="1150" dirty="0"/>
          </a:p>
        </p:txBody>
      </p:sp>
      <p:sp>
        <p:nvSpPr>
          <p:cNvPr id="7" name="Shape 5"/>
          <p:cNvSpPr/>
          <p:nvPr/>
        </p:nvSpPr>
        <p:spPr>
          <a:xfrm>
            <a:off x="685800" y="2084832"/>
            <a:ext cx="420624" cy="530352"/>
          </a:xfrm>
          <a:prstGeom prst="rect">
            <a:avLst/>
          </a:prstGeom>
          <a:solidFill>
            <a:srgbClr val="3D6B40"/>
          </a:solidFill>
          <a:ln/>
        </p:spPr>
      </p:sp>
      <p:sp>
        <p:nvSpPr>
          <p:cNvPr id="8" name="Text 6"/>
          <p:cNvSpPr/>
          <p:nvPr/>
        </p:nvSpPr>
        <p:spPr>
          <a:xfrm>
            <a:off x="685800" y="2084832"/>
            <a:ext cx="420624" cy="530352"/>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9" name="Text 7"/>
          <p:cNvSpPr/>
          <p:nvPr/>
        </p:nvSpPr>
        <p:spPr>
          <a:xfrm>
            <a:off x="1188720" y="2103120"/>
            <a:ext cx="7406640" cy="512064"/>
          </a:xfrm>
          <a:prstGeom prst="rect">
            <a:avLst/>
          </a:prstGeom>
          <a:noFill/>
          <a:ln/>
        </p:spPr>
        <p:txBody>
          <a:bodyPr wrap="square" rtlCol="0" anchor="ctr"/>
          <a:lstStyle/>
          <a:p>
            <a:pPr indent="0" marL="0">
              <a:lnSpc>
                <a:spcPct val="125000"/>
              </a:lnSpc>
              <a:buNone/>
            </a:pPr>
            <a:r>
              <a:rPr lang="en-US" sz="1150" dirty="0">
                <a:solidFill>
                  <a:srgbClr val="EEE8DC"/>
                </a:solidFill>
              </a:rPr>
              <a:t>XGBoost and LightGBM trained on lifestyle + employment data can predict grade bands with up to 75.8% accuracy after balancing the data with SMOTE</a:t>
            </a:r>
            <a:endParaRPr lang="en-US" sz="1150" dirty="0"/>
          </a:p>
        </p:txBody>
      </p:sp>
      <p:sp>
        <p:nvSpPr>
          <p:cNvPr id="10" name="Shape 8"/>
          <p:cNvSpPr/>
          <p:nvPr/>
        </p:nvSpPr>
        <p:spPr>
          <a:xfrm>
            <a:off x="685800" y="2907792"/>
            <a:ext cx="420624" cy="530352"/>
          </a:xfrm>
          <a:prstGeom prst="rect">
            <a:avLst/>
          </a:prstGeom>
          <a:solidFill>
            <a:srgbClr val="3D6B40"/>
          </a:solidFill>
          <a:ln/>
        </p:spPr>
      </p:sp>
      <p:sp>
        <p:nvSpPr>
          <p:cNvPr id="11" name="Text 9"/>
          <p:cNvSpPr/>
          <p:nvPr/>
        </p:nvSpPr>
        <p:spPr>
          <a:xfrm>
            <a:off x="685800" y="2907792"/>
            <a:ext cx="420624" cy="530352"/>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2" name="Text 10"/>
          <p:cNvSpPr/>
          <p:nvPr/>
        </p:nvSpPr>
        <p:spPr>
          <a:xfrm>
            <a:off x="1188720" y="2926080"/>
            <a:ext cx="7406640" cy="512064"/>
          </a:xfrm>
          <a:prstGeom prst="rect">
            <a:avLst/>
          </a:prstGeom>
          <a:noFill/>
          <a:ln/>
        </p:spPr>
        <p:txBody>
          <a:bodyPr wrap="square" rtlCol="0" anchor="ctr"/>
          <a:lstStyle/>
          <a:p>
            <a:pPr indent="0" marL="0">
              <a:lnSpc>
                <a:spcPct val="125000"/>
              </a:lnSpc>
              <a:buNone/>
            </a:pPr>
            <a:r>
              <a:rPr lang="en-US" sz="1150" dirty="0">
                <a:solidFill>
                  <a:srgbClr val="EEE8DC"/>
                </a:solidFill>
              </a:rPr>
              <a:t>SHAP explainability turns a black-box model into something an academic advisor can actually use — they can see exactly what's putting a student at risk</a:t>
            </a:r>
            <a:endParaRPr lang="en-US" sz="1150" dirty="0"/>
          </a:p>
        </p:txBody>
      </p:sp>
      <p:sp>
        <p:nvSpPr>
          <p:cNvPr id="13" name="Shape 11"/>
          <p:cNvSpPr/>
          <p:nvPr/>
        </p:nvSpPr>
        <p:spPr>
          <a:xfrm>
            <a:off x="685800" y="3730752"/>
            <a:ext cx="420624" cy="530352"/>
          </a:xfrm>
          <a:prstGeom prst="rect">
            <a:avLst/>
          </a:prstGeom>
          <a:solidFill>
            <a:srgbClr val="3D6B40"/>
          </a:solidFill>
          <a:ln/>
        </p:spPr>
      </p:sp>
      <p:sp>
        <p:nvSpPr>
          <p:cNvPr id="14" name="Text 12"/>
          <p:cNvSpPr/>
          <p:nvPr/>
        </p:nvSpPr>
        <p:spPr>
          <a:xfrm>
            <a:off x="685800" y="3730752"/>
            <a:ext cx="420624" cy="530352"/>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15" name="Text 13"/>
          <p:cNvSpPr/>
          <p:nvPr/>
        </p:nvSpPr>
        <p:spPr>
          <a:xfrm>
            <a:off x="1188720" y="3749040"/>
            <a:ext cx="7406640" cy="512064"/>
          </a:xfrm>
          <a:prstGeom prst="rect">
            <a:avLst/>
          </a:prstGeom>
          <a:noFill/>
          <a:ln/>
        </p:spPr>
        <p:txBody>
          <a:bodyPr wrap="square" rtlCol="0" anchor="ctr"/>
          <a:lstStyle/>
          <a:p>
            <a:pPr indent="0" marL="0">
              <a:lnSpc>
                <a:spcPct val="125000"/>
              </a:lnSpc>
              <a:buNone/>
            </a:pPr>
            <a:r>
              <a:rPr lang="en-US" sz="1150" dirty="0">
                <a:solidFill>
                  <a:srgbClr val="EEE8DC"/>
                </a:solidFill>
              </a:rPr>
              <a:t>This project connects the three papers we studied into one unified pipeline — extending the parent paper with lifestyle data, employment context, and interpretable ML</a:t>
            </a:r>
            <a:endParaRPr lang="en-US" sz="1150" dirty="0"/>
          </a:p>
        </p:txBody>
      </p:sp>
      <p:sp>
        <p:nvSpPr>
          <p:cNvPr id="16" name="Shape 14"/>
          <p:cNvSpPr/>
          <p:nvPr/>
        </p:nvSpPr>
        <p:spPr>
          <a:xfrm>
            <a:off x="685800" y="4572000"/>
            <a:ext cx="7772400" cy="384048"/>
          </a:xfrm>
          <a:prstGeom prst="rect">
            <a:avLst/>
          </a:prstGeom>
          <a:solidFill>
            <a:srgbClr val="1E3320"/>
          </a:solidFill>
          <a:ln/>
        </p:spPr>
      </p:sp>
      <p:sp>
        <p:nvSpPr>
          <p:cNvPr id="17" name="Text 15"/>
          <p:cNvSpPr/>
          <p:nvPr/>
        </p:nvSpPr>
        <p:spPr>
          <a:xfrm>
            <a:off x="685800" y="4572000"/>
            <a:ext cx="7772400" cy="384048"/>
          </a:xfrm>
          <a:prstGeom prst="rect">
            <a:avLst/>
          </a:prstGeom>
          <a:noFill/>
          <a:ln/>
        </p:spPr>
        <p:txBody>
          <a:bodyPr wrap="square" rtlCol="0" anchor="ctr"/>
          <a:lstStyle/>
          <a:p>
            <a:pPr algn="ctr" indent="0" marL="0">
              <a:buNone/>
            </a:pPr>
            <a:r>
              <a:rPr lang="en-US" sz="1150" i="1" dirty="0">
                <a:solidFill>
                  <a:srgbClr val="EEE8DC"/>
                </a:solidFill>
              </a:rPr>
              <a:t>"Working students aren't failing because they're less capable. They're failing because no one is looking at the full picture."</a:t>
            </a:r>
            <a:endParaRPr lang="en-US" sz="1150" dirty="0"/>
          </a:p>
        </p:txBody>
      </p:sp>
      <p:sp>
        <p:nvSpPr>
          <p:cNvPr id="18" name="Shape 16"/>
          <p:cNvSpPr/>
          <p:nvPr/>
        </p:nvSpPr>
        <p:spPr>
          <a:xfrm>
            <a:off x="0" y="4873752"/>
            <a:ext cx="1280160" cy="274320"/>
          </a:xfrm>
          <a:prstGeom prst="rect">
            <a:avLst/>
          </a:prstGeom>
          <a:solidFill>
            <a:srgbClr val="3D6B40"/>
          </a:solidFill>
          <a:ln/>
        </p:spPr>
      </p:sp>
      <p:sp>
        <p:nvSpPr>
          <p:cNvPr id="19" name="Shape 17"/>
          <p:cNvSpPr/>
          <p:nvPr/>
        </p:nvSpPr>
        <p:spPr>
          <a:xfrm>
            <a:off x="1371600" y="4873752"/>
            <a:ext cx="7772400" cy="274320"/>
          </a:xfrm>
          <a:prstGeom prst="rect">
            <a:avLst/>
          </a:prstGeom>
          <a:solidFill>
            <a:srgbClr val="4A7A4D"/>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0" y="0"/>
            <a:ext cx="2286000" cy="329184"/>
          </a:xfrm>
          <a:prstGeom prst="rect">
            <a:avLst/>
          </a:prstGeom>
          <a:solidFill>
            <a:srgbClr val="2C4A2E"/>
          </a:solidFill>
          <a:ln/>
        </p:spPr>
      </p:sp>
      <p:sp>
        <p:nvSpPr>
          <p:cNvPr id="3" name="Text 1"/>
          <p:cNvSpPr/>
          <p:nvPr/>
        </p:nvSpPr>
        <p:spPr>
          <a:xfrm>
            <a:off x="109728" y="36576"/>
            <a:ext cx="2103120" cy="256032"/>
          </a:xfrm>
          <a:prstGeom prst="rect">
            <a:avLst/>
          </a:prstGeom>
          <a:noFill/>
          <a:ln/>
        </p:spPr>
        <p:txBody>
          <a:bodyPr wrap="square" lIns="0" tIns="0" rIns="0" bIns="0" rtlCol="0" anchor="ctr"/>
          <a:lstStyle/>
          <a:p>
            <a:pPr indent="0" marL="0">
              <a:buNone/>
            </a:pPr>
            <a:r>
              <a:rPr lang="en-US" sz="900" dirty="0">
                <a:solidFill>
                  <a:srgbClr val="FFFFFF"/>
                </a:solidFill>
              </a:rPr>
              <a:t>DS340W | Spring 2026</a:t>
            </a:r>
            <a:endParaRPr lang="en-US" sz="900" dirty="0"/>
          </a:p>
        </p:txBody>
      </p:sp>
      <p:sp>
        <p:nvSpPr>
          <p:cNvPr id="4" name="Shape 2"/>
          <p:cNvSpPr/>
          <p:nvPr/>
        </p:nvSpPr>
        <p:spPr>
          <a:xfrm>
            <a:off x="0" y="4873752"/>
            <a:ext cx="1280160" cy="274320"/>
          </a:xfrm>
          <a:prstGeom prst="rect">
            <a:avLst/>
          </a:prstGeom>
          <a:solidFill>
            <a:srgbClr val="2C4A2E"/>
          </a:solidFill>
          <a:ln/>
        </p:spPr>
      </p:sp>
      <p:sp>
        <p:nvSpPr>
          <p:cNvPr id="5" name="Shape 3"/>
          <p:cNvSpPr/>
          <p:nvPr/>
        </p:nvSpPr>
        <p:spPr>
          <a:xfrm>
            <a:off x="1371600" y="4873752"/>
            <a:ext cx="7772400" cy="274320"/>
          </a:xfrm>
          <a:prstGeom prst="rect">
            <a:avLst/>
          </a:prstGeom>
          <a:solidFill>
            <a:srgbClr val="3D6B40"/>
          </a:solidFill>
          <a:ln/>
        </p:spPr>
      </p:sp>
      <p:sp>
        <p:nvSpPr>
          <p:cNvPr id="6" name="Text 4"/>
          <p:cNvSpPr/>
          <p:nvPr/>
        </p:nvSpPr>
        <p:spPr>
          <a:xfrm>
            <a:off x="457200" y="438912"/>
            <a:ext cx="8229600" cy="658368"/>
          </a:xfrm>
          <a:prstGeom prst="rect">
            <a:avLst/>
          </a:prstGeom>
          <a:noFill/>
          <a:ln/>
        </p:spPr>
        <p:txBody>
          <a:bodyPr wrap="square" rtlCol="0" anchor="ctr"/>
          <a:lstStyle/>
          <a:p>
            <a:pPr algn="ctr" indent="0" marL="0">
              <a:buNone/>
            </a:pPr>
            <a:r>
              <a:rPr lang="en-US" sz="3400" dirty="0">
                <a:solidFill>
                  <a:srgbClr val="2C4A2E"/>
                </a:solidFill>
                <a:latin typeface="Georgia" pitchFamily="34" charset="0"/>
                <a:ea typeface="Georgia" pitchFamily="34" charset="-122"/>
                <a:cs typeface="Georgia" pitchFamily="34" charset="-120"/>
              </a:rPr>
              <a:t>References</a:t>
            </a:r>
            <a:endParaRPr lang="en-US" sz="3400" dirty="0"/>
          </a:p>
        </p:txBody>
      </p:sp>
      <p:sp>
        <p:nvSpPr>
          <p:cNvPr id="7" name="Shape 5"/>
          <p:cNvSpPr/>
          <p:nvPr/>
        </p:nvSpPr>
        <p:spPr>
          <a:xfrm>
            <a:off x="548640" y="1207008"/>
            <a:ext cx="8046720" cy="1078992"/>
          </a:xfrm>
          <a:prstGeom prst="rect">
            <a:avLst/>
          </a:prstGeom>
          <a:solidFill>
            <a:srgbClr val="EEE8DC"/>
          </a:solidFill>
          <a:ln/>
          <a:effectLst>
            <a:outerShdw sx="100000" sy="100000" kx="0" ky="0" algn="bl" rotWithShape="0" blurRad="63500" dist="25400" dir="8100000">
              <a:srgbClr val="000000">
                <a:alpha val="10000"/>
              </a:srgbClr>
            </a:outerShdw>
          </a:effectLst>
        </p:spPr>
      </p:sp>
      <p:sp>
        <p:nvSpPr>
          <p:cNvPr id="8" name="Shape 6"/>
          <p:cNvSpPr/>
          <p:nvPr/>
        </p:nvSpPr>
        <p:spPr>
          <a:xfrm>
            <a:off x="548640" y="1207008"/>
            <a:ext cx="365760" cy="1078992"/>
          </a:xfrm>
          <a:prstGeom prst="rect">
            <a:avLst/>
          </a:prstGeom>
          <a:solidFill>
            <a:srgbClr val="2C4A2E"/>
          </a:solidFill>
          <a:ln/>
        </p:spPr>
      </p:sp>
      <p:sp>
        <p:nvSpPr>
          <p:cNvPr id="9" name="Text 7"/>
          <p:cNvSpPr/>
          <p:nvPr/>
        </p:nvSpPr>
        <p:spPr>
          <a:xfrm>
            <a:off x="548640" y="1207008"/>
            <a:ext cx="365760" cy="1078992"/>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10" name="Text 8"/>
          <p:cNvSpPr/>
          <p:nvPr/>
        </p:nvSpPr>
        <p:spPr>
          <a:xfrm>
            <a:off x="1005840" y="1280160"/>
            <a:ext cx="7406640" cy="914400"/>
          </a:xfrm>
          <a:prstGeom prst="rect">
            <a:avLst/>
          </a:prstGeom>
          <a:noFill/>
          <a:ln/>
        </p:spPr>
        <p:txBody>
          <a:bodyPr wrap="square" rtlCol="0" anchor="ctr"/>
          <a:lstStyle/>
          <a:p>
            <a:pPr indent="0" marL="0">
              <a:lnSpc>
                <a:spcPct val="135000"/>
              </a:lnSpc>
              <a:buNone/>
            </a:pPr>
            <a:r>
              <a:rPr lang="en-US" sz="1150" dirty="0">
                <a:solidFill>
                  <a:srgbClr val="2C4A2E"/>
                </a:solidFill>
              </a:rPr>
              <a:t>Alhamadi, M. (2025). Predicting Students' Academic Performance Using Machine Learning. [Parent Paper — DS340W Group 26]</a:t>
            </a:r>
            <a:endParaRPr lang="en-US" sz="1150" dirty="0"/>
          </a:p>
        </p:txBody>
      </p:sp>
      <p:sp>
        <p:nvSpPr>
          <p:cNvPr id="11" name="Shape 9"/>
          <p:cNvSpPr/>
          <p:nvPr/>
        </p:nvSpPr>
        <p:spPr>
          <a:xfrm>
            <a:off x="548640" y="2441448"/>
            <a:ext cx="8046720" cy="1078992"/>
          </a:xfrm>
          <a:prstGeom prst="rect">
            <a:avLst/>
          </a:prstGeom>
          <a:solidFill>
            <a:srgbClr val="EEE8DC"/>
          </a:solidFill>
          <a:ln/>
          <a:effectLst>
            <a:outerShdw sx="100000" sy="100000" kx="0" ky="0" algn="bl" rotWithShape="0" blurRad="63500" dist="25400" dir="8100000">
              <a:srgbClr val="000000">
                <a:alpha val="10000"/>
              </a:srgbClr>
            </a:outerShdw>
          </a:effectLst>
        </p:spPr>
      </p:sp>
      <p:sp>
        <p:nvSpPr>
          <p:cNvPr id="12" name="Shape 10"/>
          <p:cNvSpPr/>
          <p:nvPr/>
        </p:nvSpPr>
        <p:spPr>
          <a:xfrm>
            <a:off x="548640" y="2441448"/>
            <a:ext cx="365760" cy="1078992"/>
          </a:xfrm>
          <a:prstGeom prst="rect">
            <a:avLst/>
          </a:prstGeom>
          <a:solidFill>
            <a:srgbClr val="2C4A2E"/>
          </a:solidFill>
          <a:ln/>
        </p:spPr>
      </p:sp>
      <p:sp>
        <p:nvSpPr>
          <p:cNvPr id="13" name="Text 11"/>
          <p:cNvSpPr/>
          <p:nvPr/>
        </p:nvSpPr>
        <p:spPr>
          <a:xfrm>
            <a:off x="548640" y="2441448"/>
            <a:ext cx="365760" cy="1078992"/>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4" name="Text 12"/>
          <p:cNvSpPr/>
          <p:nvPr/>
        </p:nvSpPr>
        <p:spPr>
          <a:xfrm>
            <a:off x="1005840" y="2514600"/>
            <a:ext cx="7406640" cy="914400"/>
          </a:xfrm>
          <a:prstGeom prst="rect">
            <a:avLst/>
          </a:prstGeom>
          <a:noFill/>
          <a:ln/>
        </p:spPr>
        <p:txBody>
          <a:bodyPr wrap="square" rtlCol="0" anchor="ctr"/>
          <a:lstStyle/>
          <a:p>
            <a:pPr indent="0" marL="0">
              <a:lnSpc>
                <a:spcPct val="135000"/>
              </a:lnSpc>
              <a:buNone/>
            </a:pPr>
            <a:r>
              <a:rPr lang="en-US" sz="1150" dirty="0">
                <a:solidFill>
                  <a:srgbClr val="2C4A2E"/>
                </a:solidFill>
              </a:rPr>
              <a:t>Kroupova, K., Havranek, T., &amp; Irsova, Z. (2024). Student Employment and Education: A Meta-Analysis. Economics of Education Review. https://www.sciencedirect.com/science/article/pii/S0272775724000335</a:t>
            </a:r>
            <a:endParaRPr lang="en-US" sz="1150" dirty="0"/>
          </a:p>
        </p:txBody>
      </p:sp>
      <p:sp>
        <p:nvSpPr>
          <p:cNvPr id="15" name="Shape 13"/>
          <p:cNvSpPr/>
          <p:nvPr/>
        </p:nvSpPr>
        <p:spPr>
          <a:xfrm>
            <a:off x="548640" y="3675888"/>
            <a:ext cx="8046720" cy="1078992"/>
          </a:xfrm>
          <a:prstGeom prst="rect">
            <a:avLst/>
          </a:prstGeom>
          <a:solidFill>
            <a:srgbClr val="EEE8DC"/>
          </a:solidFill>
          <a:ln/>
          <a:effectLst>
            <a:outerShdw sx="100000" sy="100000" kx="0" ky="0" algn="bl" rotWithShape="0" blurRad="63500" dist="25400" dir="8100000">
              <a:srgbClr val="000000">
                <a:alpha val="10000"/>
              </a:srgbClr>
            </a:outerShdw>
          </a:effectLst>
        </p:spPr>
      </p:sp>
      <p:sp>
        <p:nvSpPr>
          <p:cNvPr id="16" name="Shape 14"/>
          <p:cNvSpPr/>
          <p:nvPr/>
        </p:nvSpPr>
        <p:spPr>
          <a:xfrm>
            <a:off x="548640" y="3675888"/>
            <a:ext cx="365760" cy="1078992"/>
          </a:xfrm>
          <a:prstGeom prst="rect">
            <a:avLst/>
          </a:prstGeom>
          <a:solidFill>
            <a:srgbClr val="2C4A2E"/>
          </a:solidFill>
          <a:ln/>
        </p:spPr>
      </p:sp>
      <p:sp>
        <p:nvSpPr>
          <p:cNvPr id="17" name="Text 15"/>
          <p:cNvSpPr/>
          <p:nvPr/>
        </p:nvSpPr>
        <p:spPr>
          <a:xfrm>
            <a:off x="548640" y="3675888"/>
            <a:ext cx="365760" cy="1078992"/>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8" name="Text 16"/>
          <p:cNvSpPr/>
          <p:nvPr/>
        </p:nvSpPr>
        <p:spPr>
          <a:xfrm>
            <a:off x="1005840" y="3749040"/>
            <a:ext cx="7406640" cy="914400"/>
          </a:xfrm>
          <a:prstGeom prst="rect">
            <a:avLst/>
          </a:prstGeom>
          <a:noFill/>
          <a:ln/>
        </p:spPr>
        <p:txBody>
          <a:bodyPr wrap="square" rtlCol="0" anchor="ctr"/>
          <a:lstStyle/>
          <a:p>
            <a:pPr indent="0" marL="0">
              <a:lnSpc>
                <a:spcPct val="135000"/>
              </a:lnSpc>
              <a:buNone/>
            </a:pPr>
            <a:r>
              <a:rPr lang="en-US" sz="1150" dirty="0">
                <a:solidFill>
                  <a:srgbClr val="2C4A2E"/>
                </a:solidFill>
              </a:rPr>
              <a:t>Thies, T. (2023). International Students in Higher Education: The Effect of Student Employment on Academic Performance and Study Progress. Higher Education, Springer.</a:t>
            </a:r>
            <a:endParaRPr lang="en-US" sz="1150" dirty="0"/>
          </a:p>
        </p:txBody>
      </p:sp>
      <p:sp>
        <p:nvSpPr>
          <p:cNvPr id="19" name="Text 17"/>
          <p:cNvSpPr/>
          <p:nvPr/>
        </p:nvSpPr>
        <p:spPr>
          <a:xfrm>
            <a:off x="548640" y="4663440"/>
            <a:ext cx="8046720" cy="256032"/>
          </a:xfrm>
          <a:prstGeom prst="rect">
            <a:avLst/>
          </a:prstGeom>
          <a:noFill/>
          <a:ln/>
        </p:spPr>
        <p:txBody>
          <a:bodyPr wrap="square" rtlCol="0" anchor="ctr"/>
          <a:lstStyle/>
          <a:p>
            <a:pPr algn="ctr" indent="0" marL="0">
              <a:buNone/>
            </a:pPr>
            <a:r>
              <a:rPr lang="en-US" sz="950" i="1" dirty="0">
                <a:solidFill>
                  <a:srgbClr val="6B7280"/>
                </a:solidFill>
              </a:rPr>
              <a:t>#G26  •  Nur Ameera Sabrina Mahadir  &amp;  Shakshe Gupta  •  DS340W Spring 2026</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0" y="0"/>
            <a:ext cx="9144000" cy="329184"/>
          </a:xfrm>
          <a:prstGeom prst="rect">
            <a:avLst/>
          </a:prstGeom>
          <a:solidFill>
            <a:srgbClr val="2C4A2E"/>
          </a:solidFill>
          <a:ln/>
        </p:spPr>
      </p:sp>
      <p:sp>
        <p:nvSpPr>
          <p:cNvPr id="3" name="Text 1"/>
          <p:cNvSpPr/>
          <p:nvPr/>
        </p:nvSpPr>
        <p:spPr>
          <a:xfrm>
            <a:off x="137160" y="36576"/>
            <a:ext cx="2743200" cy="256032"/>
          </a:xfrm>
          <a:prstGeom prst="rect">
            <a:avLst/>
          </a:prstGeom>
          <a:noFill/>
          <a:ln/>
        </p:spPr>
        <p:txBody>
          <a:bodyPr wrap="square" lIns="0" tIns="0" rIns="0" bIns="0" rtlCol="0" anchor="ctr"/>
          <a:lstStyle/>
          <a:p>
            <a:pPr indent="0" marL="0">
              <a:buNone/>
            </a:pPr>
            <a:r>
              <a:rPr lang="en-US" sz="900" dirty="0">
                <a:solidFill>
                  <a:srgbClr val="FFFFFF"/>
                </a:solidFill>
              </a:rPr>
              <a:t>DS340W | Spring 2026</a:t>
            </a:r>
            <a:endParaRPr lang="en-US" sz="900" dirty="0"/>
          </a:p>
        </p:txBody>
      </p:sp>
      <p:sp>
        <p:nvSpPr>
          <p:cNvPr id="4" name="Text 2"/>
          <p:cNvSpPr/>
          <p:nvPr/>
        </p:nvSpPr>
        <p:spPr>
          <a:xfrm>
            <a:off x="457200" y="1417320"/>
            <a:ext cx="8229600" cy="1280160"/>
          </a:xfrm>
          <a:prstGeom prst="rect">
            <a:avLst/>
          </a:prstGeom>
          <a:noFill/>
          <a:ln/>
        </p:spPr>
        <p:txBody>
          <a:bodyPr wrap="square" rtlCol="0" anchor="ctr"/>
          <a:lstStyle/>
          <a:p>
            <a:pPr algn="ctr" indent="0" marL="0">
              <a:buNone/>
            </a:pPr>
            <a:r>
              <a:rPr lang="en-US" sz="6000" dirty="0">
                <a:solidFill>
                  <a:srgbClr val="2C4A2E"/>
                </a:solidFill>
                <a:latin typeface="Georgia" pitchFamily="34" charset="0"/>
                <a:ea typeface="Georgia" pitchFamily="34" charset="-122"/>
                <a:cs typeface="Georgia" pitchFamily="34" charset="-120"/>
              </a:rPr>
              <a:t>Thank You</a:t>
            </a:r>
            <a:endParaRPr lang="en-US" sz="6000" dirty="0"/>
          </a:p>
        </p:txBody>
      </p:sp>
      <p:sp>
        <p:nvSpPr>
          <p:cNvPr id="5" name="Shape 3"/>
          <p:cNvSpPr/>
          <p:nvPr/>
        </p:nvSpPr>
        <p:spPr>
          <a:xfrm>
            <a:off x="3200400" y="2816352"/>
            <a:ext cx="2743200" cy="54864"/>
          </a:xfrm>
          <a:prstGeom prst="rect">
            <a:avLst/>
          </a:prstGeom>
          <a:solidFill>
            <a:srgbClr val="2C4A2E"/>
          </a:solidFill>
          <a:ln/>
        </p:spPr>
      </p:sp>
      <p:sp>
        <p:nvSpPr>
          <p:cNvPr id="6" name="Text 4"/>
          <p:cNvSpPr/>
          <p:nvPr/>
        </p:nvSpPr>
        <p:spPr>
          <a:xfrm>
            <a:off x="457200" y="2926080"/>
            <a:ext cx="8229600" cy="365760"/>
          </a:xfrm>
          <a:prstGeom prst="rect">
            <a:avLst/>
          </a:prstGeom>
          <a:noFill/>
          <a:ln/>
        </p:spPr>
        <p:txBody>
          <a:bodyPr wrap="square" rtlCol="0" anchor="ctr"/>
          <a:lstStyle/>
          <a:p>
            <a:pPr algn="ctr" indent="0" marL="0">
              <a:buNone/>
            </a:pPr>
            <a:r>
              <a:rPr lang="en-US" sz="1400" b="1" dirty="0">
                <a:solidFill>
                  <a:srgbClr val="2C4A2E"/>
                </a:solidFill>
              </a:rPr>
              <a:t>Nur Ameera Sabrina Mahadir  •  Shakshe Gupta</a:t>
            </a:r>
            <a:endParaRPr lang="en-US" sz="1400" dirty="0"/>
          </a:p>
        </p:txBody>
      </p:sp>
      <p:sp>
        <p:nvSpPr>
          <p:cNvPr id="7" name="Text 5"/>
          <p:cNvSpPr/>
          <p:nvPr/>
        </p:nvSpPr>
        <p:spPr>
          <a:xfrm>
            <a:off x="457200" y="3337560"/>
            <a:ext cx="8229600" cy="320040"/>
          </a:xfrm>
          <a:prstGeom prst="rect">
            <a:avLst/>
          </a:prstGeom>
          <a:noFill/>
          <a:ln/>
        </p:spPr>
        <p:txBody>
          <a:bodyPr wrap="square" rtlCol="0" anchor="ctr"/>
          <a:lstStyle/>
          <a:p>
            <a:pPr algn="ctr" indent="0" marL="0">
              <a:buNone/>
            </a:pPr>
            <a:r>
              <a:rPr lang="en-US" sz="1200" i="1" dirty="0">
                <a:solidFill>
                  <a:srgbClr val="6B7280"/>
                </a:solidFill>
              </a:rPr>
              <a:t>DS340W  •  Group 26  •  Spring 2026</a:t>
            </a:r>
            <a:endParaRPr lang="en-US" sz="1200" dirty="0"/>
          </a:p>
        </p:txBody>
      </p:sp>
      <p:sp>
        <p:nvSpPr>
          <p:cNvPr id="8" name="Shape 6"/>
          <p:cNvSpPr/>
          <p:nvPr/>
        </p:nvSpPr>
        <p:spPr>
          <a:xfrm>
            <a:off x="0" y="4873752"/>
            <a:ext cx="1280160" cy="274320"/>
          </a:xfrm>
          <a:prstGeom prst="rect">
            <a:avLst/>
          </a:prstGeom>
          <a:solidFill>
            <a:srgbClr val="2C4A2E"/>
          </a:solidFill>
          <a:ln/>
        </p:spPr>
      </p:sp>
      <p:sp>
        <p:nvSpPr>
          <p:cNvPr id="9" name="Shape 7"/>
          <p:cNvSpPr/>
          <p:nvPr/>
        </p:nvSpPr>
        <p:spPr>
          <a:xfrm>
            <a:off x="1371600" y="4873752"/>
            <a:ext cx="7772400" cy="274320"/>
          </a:xfrm>
          <a:prstGeom prst="rect">
            <a:avLst/>
          </a:prstGeom>
          <a:solidFill>
            <a:srgbClr val="3D6B40"/>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DS340W Group 26 Midterm Presentation</dc:title>
  <dc:subject>PptxGenJS Presentation</dc:subject>
  <dc:creator>PptxGenJS</dc:creator>
  <cp:lastModifiedBy>PptxGenJS</cp:lastModifiedBy>
  <cp:revision>1</cp:revision>
  <dcterms:created xsi:type="dcterms:W3CDTF">2026-03-23T15:59:40Z</dcterms:created>
  <dcterms:modified xsi:type="dcterms:W3CDTF">2026-03-23T15:59:40Z</dcterms:modified>
</cp:coreProperties>
</file>